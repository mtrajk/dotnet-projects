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6"/>
  </p:notesMasterIdLst>
  <p:handoutMasterIdLst>
    <p:handoutMasterId r:id="rId27"/>
  </p:handoutMasterIdLst>
  <p:sldIdLst>
    <p:sldId id="259" r:id="rId5"/>
    <p:sldId id="270" r:id="rId6"/>
    <p:sldId id="265" r:id="rId7"/>
    <p:sldId id="267" r:id="rId8"/>
    <p:sldId id="377" r:id="rId9"/>
    <p:sldId id="380" r:id="rId10"/>
    <p:sldId id="381" r:id="rId11"/>
    <p:sldId id="382" r:id="rId12"/>
    <p:sldId id="383" r:id="rId13"/>
    <p:sldId id="384" r:id="rId14"/>
    <p:sldId id="375" r:id="rId15"/>
    <p:sldId id="385" r:id="rId16"/>
    <p:sldId id="387" r:id="rId17"/>
    <p:sldId id="388" r:id="rId18"/>
    <p:sldId id="376" r:id="rId19"/>
    <p:sldId id="389" r:id="rId20"/>
    <p:sldId id="390" r:id="rId21"/>
    <p:sldId id="391" r:id="rId22"/>
    <p:sldId id="392" r:id="rId23"/>
    <p:sldId id="393" r:id="rId24"/>
    <p:sldId id="357" r:id="rId25"/>
  </p:sldIdLst>
  <p:sldSz cx="24384000" cy="13716000"/>
  <p:notesSz cx="6858000" cy="9144000"/>
  <p:embeddedFontLst>
    <p:embeddedFont>
      <p:font typeface="Dava Sans" pitchFamily="2" charset="0"/>
      <p:regular r:id="rId28"/>
      <p:bold r:id="rId29"/>
      <p:italic r:id="rId30"/>
      <p:boldItalic r:id="rId31"/>
    </p:embeddedFont>
    <p:embeddedFont>
      <p:font typeface="Dava Sans Med" panose="020B0604020202020204" charset="0"/>
      <p:regular r:id="rId3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p:defaultTextStyle>
  <p:extLst>
    <p:ext uri="{521415D9-36F7-43E2-AB2F-B90AF26B5E84}">
      <p14:sectionLst xmlns:p14="http://schemas.microsoft.com/office/powerpoint/2010/main">
        <p14:section name="Intro" id="{AC92700C-E569-4BE7-AD91-5B32A436A363}">
          <p14:sldIdLst>
            <p14:sldId id="259"/>
            <p14:sldId id="270"/>
            <p14:sldId id="265"/>
          </p14:sldIdLst>
        </p14:section>
        <p14:section name="The History That Led to MCP" id="{CF5A592E-2AB0-47D6-8B0A-6B941EFED2C7}">
          <p14:sldIdLst>
            <p14:sldId id="267"/>
            <p14:sldId id="377"/>
            <p14:sldId id="380"/>
            <p14:sldId id="381"/>
            <p14:sldId id="382"/>
            <p14:sldId id="383"/>
            <p14:sldId id="384"/>
          </p14:sldIdLst>
        </p14:section>
        <p14:section name="Why MCP" id="{B4235E48-15EF-46A7-B58C-3FAE5188633A}">
          <p14:sldIdLst>
            <p14:sldId id="375"/>
            <p14:sldId id="385"/>
            <p14:sldId id="387"/>
            <p14:sldId id="388"/>
          </p14:sldIdLst>
        </p14:section>
        <p14:section name="Demos" id="{36A0A515-5D71-49C7-9A68-AC4888D86357}">
          <p14:sldIdLst>
            <p14:sldId id="376"/>
            <p14:sldId id="389"/>
            <p14:sldId id="390"/>
            <p14:sldId id="391"/>
            <p14:sldId id="392"/>
          </p14:sldIdLst>
        </p14:section>
        <p14:section name="End" id="{FDF25BCA-9E84-4071-8BA0-B94ABE55E87D}">
          <p14:sldIdLst>
            <p14:sldId id="393"/>
            <p14:sldId id="357"/>
          </p14:sldIdLst>
        </p14:section>
      </p14:sectionLst>
    </p:ex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8087"/>
    <a:srgbClr val="BABFC3"/>
    <a:srgbClr val="FFFFFF"/>
    <a:srgbClr val="30404B"/>
    <a:srgbClr val="8C959B"/>
    <a:srgbClr val="D1D5D7"/>
    <a:srgbClr val="122B38"/>
    <a:srgbClr val="FF4230"/>
    <a:srgbClr val="FF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Poppins Bold"/>
          <a:ea typeface="Poppins Bold"/>
          <a:cs typeface="Poppins 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Poppins Bold"/>
          <a:ea typeface="Poppins Bold"/>
          <a:cs typeface="Poppins 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Poppins Bold"/>
          <a:ea typeface="Poppins Bold"/>
          <a:cs typeface="Poppins Bold"/>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45"/>
    <p:restoredTop sz="94640"/>
  </p:normalViewPr>
  <p:slideViewPr>
    <p:cSldViewPr snapToGrid="0">
      <p:cViewPr varScale="1">
        <p:scale>
          <a:sx n="53" d="100"/>
          <a:sy n="53" d="100"/>
        </p:scale>
        <p:origin x="1026" y="96"/>
      </p:cViewPr>
      <p:guideLst>
        <p:guide orient="horz" pos="4320"/>
        <p:guide pos="7680"/>
      </p:guideLst>
    </p:cSldViewPr>
  </p:slideViewPr>
  <p:notesTextViewPr>
    <p:cViewPr>
      <p:scale>
        <a:sx n="1" d="1"/>
        <a:sy n="1" d="1"/>
      </p:scale>
      <p:origin x="0" y="0"/>
    </p:cViewPr>
  </p:notesTextViewPr>
  <p:notesViewPr>
    <p:cSldViewPr snapToGrid="0">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E6D5C2-E810-C572-C13C-9D14F07696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O"/>
          </a:p>
        </p:txBody>
      </p:sp>
      <p:sp>
        <p:nvSpPr>
          <p:cNvPr id="3" name="Date Placeholder 2">
            <a:extLst>
              <a:ext uri="{FF2B5EF4-FFF2-40B4-BE49-F238E27FC236}">
                <a16:creationId xmlns:a16="http://schemas.microsoft.com/office/drawing/2014/main" id="{46FBF47C-D32B-CAA2-A5A4-50B6BEB4A9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2A5286-0306-B143-BA49-3E397476CCE1}" type="datetimeFigureOut">
              <a:rPr lang="en-RO" smtClean="0"/>
              <a:t>12/11/2025</a:t>
            </a:fld>
            <a:endParaRPr lang="en-RO"/>
          </a:p>
        </p:txBody>
      </p:sp>
      <p:sp>
        <p:nvSpPr>
          <p:cNvPr id="4" name="Footer Placeholder 3">
            <a:extLst>
              <a:ext uri="{FF2B5EF4-FFF2-40B4-BE49-F238E27FC236}">
                <a16:creationId xmlns:a16="http://schemas.microsoft.com/office/drawing/2014/main" id="{4589B6D8-A221-B327-F05B-6C599FD2A0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RO"/>
          </a:p>
        </p:txBody>
      </p:sp>
      <p:sp>
        <p:nvSpPr>
          <p:cNvPr id="5" name="Slide Number Placeholder 4">
            <a:extLst>
              <a:ext uri="{FF2B5EF4-FFF2-40B4-BE49-F238E27FC236}">
                <a16:creationId xmlns:a16="http://schemas.microsoft.com/office/drawing/2014/main" id="{48D1AC45-1C47-9DDA-6253-17E727D225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B202A-81CE-954E-9ACC-87922C02C77C}" type="slidenum">
              <a:rPr lang="en-RO" smtClean="0"/>
              <a:t>‹#›</a:t>
            </a:fld>
            <a:endParaRPr lang="en-RO"/>
          </a:p>
        </p:txBody>
      </p:sp>
    </p:spTree>
    <p:extLst>
      <p:ext uri="{BB962C8B-B14F-4D97-AF65-F5344CB8AC3E}">
        <p14:creationId xmlns:p14="http://schemas.microsoft.com/office/powerpoint/2010/main" val="1849955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8" name="Shape 17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9" name="Shape 17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Dava Sans" pitchFamily="2" charset="77"/>
        <a:ea typeface="+mn-ea"/>
        <a:cs typeface="+mn-cs"/>
        <a:sym typeface="Poppins Regular"/>
      </a:defRPr>
    </a:lvl1pPr>
    <a:lvl2pPr indent="228600" defTabSz="457200" latinLnBrk="0">
      <a:lnSpc>
        <a:spcPct val="117999"/>
      </a:lnSpc>
      <a:defRPr sz="2200">
        <a:latin typeface="+mn-lt"/>
        <a:ea typeface="+mn-ea"/>
        <a:cs typeface="+mn-cs"/>
        <a:sym typeface="Poppins Regular"/>
      </a:defRPr>
    </a:lvl2pPr>
    <a:lvl3pPr indent="457200" defTabSz="457200" latinLnBrk="0">
      <a:lnSpc>
        <a:spcPct val="117999"/>
      </a:lnSpc>
      <a:defRPr sz="2200">
        <a:latin typeface="+mn-lt"/>
        <a:ea typeface="+mn-ea"/>
        <a:cs typeface="+mn-cs"/>
        <a:sym typeface="Poppins Regular"/>
      </a:defRPr>
    </a:lvl3pPr>
    <a:lvl4pPr indent="685800" defTabSz="457200" latinLnBrk="0">
      <a:lnSpc>
        <a:spcPct val="117999"/>
      </a:lnSpc>
      <a:defRPr sz="2200">
        <a:latin typeface="+mn-lt"/>
        <a:ea typeface="+mn-ea"/>
        <a:cs typeface="+mn-cs"/>
        <a:sym typeface="Poppins Regular"/>
      </a:defRPr>
    </a:lvl4pPr>
    <a:lvl5pPr indent="914400" defTabSz="457200" latinLnBrk="0">
      <a:lnSpc>
        <a:spcPct val="117999"/>
      </a:lnSpc>
      <a:defRPr sz="2200">
        <a:latin typeface="+mn-lt"/>
        <a:ea typeface="+mn-ea"/>
        <a:cs typeface="+mn-cs"/>
        <a:sym typeface="Poppins Regular"/>
      </a:defRPr>
    </a:lvl5pPr>
    <a:lvl6pPr indent="1143000" defTabSz="457200" latinLnBrk="0">
      <a:lnSpc>
        <a:spcPct val="117999"/>
      </a:lnSpc>
      <a:defRPr sz="2200">
        <a:latin typeface="+mn-lt"/>
        <a:ea typeface="+mn-ea"/>
        <a:cs typeface="+mn-cs"/>
        <a:sym typeface="Poppins Regular"/>
      </a:defRPr>
    </a:lvl6pPr>
    <a:lvl7pPr indent="1371600" defTabSz="457200" latinLnBrk="0">
      <a:lnSpc>
        <a:spcPct val="117999"/>
      </a:lnSpc>
      <a:defRPr sz="2200">
        <a:latin typeface="+mn-lt"/>
        <a:ea typeface="+mn-ea"/>
        <a:cs typeface="+mn-cs"/>
        <a:sym typeface="Poppins Regular"/>
      </a:defRPr>
    </a:lvl7pPr>
    <a:lvl8pPr indent="1600200" defTabSz="457200" latinLnBrk="0">
      <a:lnSpc>
        <a:spcPct val="117999"/>
      </a:lnSpc>
      <a:defRPr sz="2200">
        <a:latin typeface="+mn-lt"/>
        <a:ea typeface="+mn-ea"/>
        <a:cs typeface="+mn-cs"/>
        <a:sym typeface="Poppins Regular"/>
      </a:defRPr>
    </a:lvl8pPr>
    <a:lvl9pPr indent="1828800" defTabSz="457200" latinLnBrk="0">
      <a:lnSpc>
        <a:spcPct val="117999"/>
      </a:lnSpc>
      <a:defRPr sz="2200">
        <a:latin typeface="+mn-lt"/>
        <a:ea typeface="+mn-ea"/>
        <a:cs typeface="+mn-cs"/>
        <a:sym typeface="Poppins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Shape 244"/>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45" name="Shape 245"/>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223C5-2298-D5AE-505D-E5A41AB58330}"/>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7FCAB5AA-9007-EFFF-CA66-39A9D12EACF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551AAF09-8517-1B69-379A-2461863BDE5D}"/>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170613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018E-36C6-71E9-BCFC-BF471AE393F4}"/>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B398EEAB-5534-AD72-D397-30D5C9508F64}"/>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9150C525-52C3-A62A-771E-065BF03DB5A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776738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4A466-19E5-06D7-B70E-3A85BC605689}"/>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27D29938-47C5-F061-A8FA-47FBCDCC470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52BA9102-59AA-504F-38B1-A477302EB13E}"/>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47854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9AC59-F8DD-EDD5-E32F-B64A322ED570}"/>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27F21B2F-FAB8-F75D-2A2B-8B8A76550BA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EF17A792-C507-6F55-35F5-B0E125BC5CB2}"/>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59701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160C3-3574-851A-A415-CFE72C4253F6}"/>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B2DBD007-F4F4-CDEF-4296-3D31C887F05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CC80878E-90B1-C081-0078-AB623646AFB3}"/>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379026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E7C9-13C7-FB89-F1BF-D3670E4881E2}"/>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7C027256-E357-C349-34A5-AC5A2AEF2C1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3912B04E-A41A-1274-934A-3FFBBFD43165}"/>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556679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04411-64C0-6735-2146-DE62FAAEDBC6}"/>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43F32F10-234E-DAA6-39DB-44B7311635B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72A3A148-0CD0-1E6D-8564-1AD5B13FC44D}"/>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770455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287A8-25B2-F108-47EF-75277D3BBAA4}"/>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6E94AA4D-A167-99C6-4629-B7B55C297C7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EEEDEDC4-49BB-BE5B-75A6-8C1085724EC4}"/>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826269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A8599-4832-A9FB-F3CE-6B5024EACF7F}"/>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DEDC99BA-7953-3B3C-44CB-1FE1BBDD4AAD}"/>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E1CEF821-0D06-1C8E-7B97-F2233EAD77BA}"/>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150713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73E18-4985-B6B5-F220-513DEF8D63EF}"/>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64F7A0E8-7C03-5BCC-ED46-8F9D96295E61}"/>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F84153CA-EC93-CC0A-7A6D-6EE256D99FFB}"/>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226256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8A9FE-C5BF-6E3A-2859-FDC2AFC50EBE}"/>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11A8BAE9-EF1B-8D13-CF9B-5139DB585D3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D917E295-26D8-D557-2193-2A23CABA3092}"/>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216299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845B-D79F-AB73-194E-FAD5A80CA892}"/>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7BAA596D-FBB1-EA37-C483-007591F5943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3E6BB555-4D70-0CA7-47B6-72ABF2AAC7DC}"/>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893449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CBFBE-304D-BD72-F098-C07A31F5BFD1}"/>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E5830F74-D63A-D097-02E4-84685DFB452B}"/>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61A2A1D1-40F5-7AE7-24AA-6145756E637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775811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D5CF-D6EF-9DB7-4B6D-B42E55ABAE85}"/>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11AE021A-4D3B-A6D0-E98C-24D6B1DB1D7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9B97E356-D97D-EA1B-4910-300C0C5B5DB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456998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1" name="Shape 1851"/>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852" name="Shape 1852"/>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r>
              <a:rPr b="1" dirty="0">
                <a:latin typeface="Dava Sans" pitchFamily="2" charset="77"/>
              </a:rPr>
              <a:t>Presentation Matters</a:t>
            </a:r>
          </a:p>
          <a:p>
            <a:r>
              <a:rPr dirty="0"/>
              <a:t>This slide provides justification for caring about how your presentations look and feel. </a:t>
            </a:r>
          </a:p>
          <a:p>
            <a:r>
              <a:rPr dirty="0"/>
              <a:t>It can also be used as a template slide. Change the header (and footer) to reflect the client, presentation name, and chapter title. To change the header and footer, click “edit master” and change the header and footer on all the master slides to have the same client and presentation name across all pages.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pic>
        <p:nvPicPr>
          <p:cNvPr id="28" name="endava_logo_neg_RGB.png" descr="endava_logo_neg_RGB.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593247" y="607284"/>
            <a:ext cx="2480228" cy="421640"/>
          </a:xfrm>
          <a:prstGeom prst="rect">
            <a:avLst/>
          </a:prstGeom>
          <a:ln w="12700">
            <a:miter lim="400000"/>
          </a:ln>
        </p:spPr>
      </p:pic>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1_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extLst>
      <p:ext uri="{BB962C8B-B14F-4D97-AF65-F5344CB8AC3E}">
        <p14:creationId xmlns:p14="http://schemas.microsoft.com/office/powerpoint/2010/main" val="387793320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Agenda Black">
    <p:bg>
      <p:bgPr>
        <a:solidFill>
          <a:srgbClr val="192B37"/>
        </a:solidFill>
        <a:effectLst/>
      </p:bgPr>
    </p:bg>
    <p:spTree>
      <p:nvGrpSpPr>
        <p:cNvPr id="1" name=""/>
        <p:cNvGrpSpPr/>
        <p:nvPr/>
      </p:nvGrpSpPr>
      <p:grpSpPr>
        <a:xfrm>
          <a:off x="0" y="0"/>
          <a:ext cx="0" cy="0"/>
          <a:chOff x="0" y="0"/>
          <a:chExt cx="0" cy="0"/>
        </a:xfrm>
      </p:grpSpPr>
      <p:pic>
        <p:nvPicPr>
          <p:cNvPr id="50" name="endava_symbol_black_CMYK.pdf" descr="endava_symbol_black_CMYK.pdf"/>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51" name="Insert presentation name"/>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dirty="0"/>
              <a:t>MCP In Action</a:t>
            </a:r>
            <a:endParaRPr dirty="0"/>
          </a:p>
        </p:txBody>
      </p:sp>
      <p:pic>
        <p:nvPicPr>
          <p:cNvPr id="52" name="endava_brandshape_RGB_red.svg" descr="endava_brandshape_RGB_red.sv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rot="16200000">
            <a:off x="5521569" y="2073270"/>
            <a:ext cx="609601" cy="243841"/>
          </a:xfrm>
          <a:prstGeom prst="rect">
            <a:avLst/>
          </a:prstGeom>
          <a:ln w="12700">
            <a:miter lim="400000"/>
          </a:ln>
        </p:spPr>
      </p:pic>
      <p:sp>
        <p:nvSpPr>
          <p:cNvPr id="53" name="Agenda"/>
          <p:cNvSpPr txBox="1"/>
          <p:nvPr/>
        </p:nvSpPr>
        <p:spPr>
          <a:xfrm>
            <a:off x="2590800" y="1700307"/>
            <a:ext cx="3357490" cy="9643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defTabSz="470262">
              <a:lnSpc>
                <a:spcPct val="100000"/>
              </a:lnSpc>
              <a:spcBef>
                <a:spcPts val="3000"/>
              </a:spcBef>
              <a:defRPr sz="5600" spc="0">
                <a:solidFill>
                  <a:srgbClr val="FFFFFF"/>
                </a:solidFill>
              </a:defRPr>
            </a:lvl1pPr>
          </a:lstStyle>
          <a:p>
            <a:r>
              <a:rPr>
                <a:latin typeface="+mj-lt"/>
              </a:rPr>
              <a:t>Agenda</a:t>
            </a:r>
          </a:p>
        </p:txBody>
      </p:sp>
      <p:sp>
        <p:nvSpPr>
          <p:cNvPr id="54" name="Insert short chapter name…"/>
          <p:cNvSpPr txBox="1">
            <a:spLocks noGrp="1"/>
          </p:cNvSpPr>
          <p:nvPr>
            <p:ph type="body" sz="quarter" idx="21"/>
          </p:nvPr>
        </p:nvSpPr>
        <p:spPr>
          <a:xfrm>
            <a:off x="4566592" y="4389125"/>
            <a:ext cx="9263708" cy="4897113"/>
          </a:xfrm>
          <a:prstGeom prst="rect">
            <a:avLst/>
          </a:prstGeom>
        </p:spPr>
        <p:txBody>
          <a:bodyPr lIns="0" tIns="0" rIns="0" bIns="0" anchor="t">
            <a:spAutoFit/>
          </a:bodyPr>
          <a:lstStyle/>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p:txBody>
      </p:sp>
      <p:sp>
        <p:nvSpPr>
          <p:cNvPr id="55" name="Pag. 4…"/>
          <p:cNvSpPr txBox="1">
            <a:spLocks noGrp="1"/>
          </p:cNvSpPr>
          <p:nvPr>
            <p:ph type="body" sz="quarter" idx="22"/>
          </p:nvPr>
        </p:nvSpPr>
        <p:spPr>
          <a:xfrm>
            <a:off x="14478000" y="4630425"/>
            <a:ext cx="1217274" cy="4468867"/>
          </a:xfrm>
          <a:prstGeom prst="rect">
            <a:avLst/>
          </a:prstGeom>
        </p:spPr>
        <p:txBody>
          <a:bodyPr lIns="0" tIns="0" rIns="0" bIns="0" anchor="t">
            <a:spAutoFit/>
          </a:bodyPr>
          <a:lstStyle/>
          <a:p>
            <a:pPr marL="0" indent="0">
              <a:lnSpc>
                <a:spcPct val="280000"/>
              </a:lnSpc>
              <a:buClrTx/>
              <a:buSzTx/>
              <a:buNone/>
              <a:defRPr sz="1600">
                <a:solidFill>
                  <a:srgbClr val="FFFFFF"/>
                </a:solidFill>
              </a:defRPr>
            </a:pPr>
            <a:r>
              <a:t>Pag. 4</a:t>
            </a:r>
          </a:p>
          <a:p>
            <a:pPr marL="0" indent="0">
              <a:lnSpc>
                <a:spcPct val="280000"/>
              </a:lnSpc>
              <a:buClrTx/>
              <a:buSzTx/>
              <a:buNone/>
              <a:defRPr sz="1600">
                <a:solidFill>
                  <a:srgbClr val="FFFFFF"/>
                </a:solidFill>
              </a:defRPr>
            </a:pPr>
            <a:r>
              <a:t>Pag. 8</a:t>
            </a:r>
          </a:p>
          <a:p>
            <a:pPr marL="0" indent="0">
              <a:lnSpc>
                <a:spcPct val="280000"/>
              </a:lnSpc>
              <a:buClrTx/>
              <a:buSzTx/>
              <a:buNone/>
              <a:defRPr sz="1600">
                <a:solidFill>
                  <a:srgbClr val="FFFFFF"/>
                </a:solidFill>
              </a:defRPr>
            </a:pPr>
            <a:r>
              <a:t>Pag. 16</a:t>
            </a:r>
          </a:p>
          <a:p>
            <a:pPr marL="0" indent="0">
              <a:lnSpc>
                <a:spcPct val="280000"/>
              </a:lnSpc>
              <a:buClrTx/>
              <a:buSzTx/>
              <a:buNone/>
              <a:defRPr sz="1600">
                <a:solidFill>
                  <a:srgbClr val="FFFFFF"/>
                </a:solidFill>
              </a:defRPr>
            </a:pPr>
            <a:r>
              <a:t>Pag. 32</a:t>
            </a:r>
          </a:p>
          <a:p>
            <a:pPr marL="0" indent="0">
              <a:lnSpc>
                <a:spcPct val="280000"/>
              </a:lnSpc>
              <a:buClrTx/>
              <a:buSzTx/>
              <a:buNone/>
              <a:defRPr sz="1600">
                <a:solidFill>
                  <a:srgbClr val="FFFFFF"/>
                </a:solidFill>
              </a:defRPr>
            </a:pPr>
            <a:r>
              <a:t>Pag. 48</a:t>
            </a:r>
          </a:p>
        </p:txBody>
      </p:sp>
      <p:sp>
        <p:nvSpPr>
          <p:cNvPr id="56" name="01…"/>
          <p:cNvSpPr txBox="1">
            <a:spLocks noGrp="1"/>
          </p:cNvSpPr>
          <p:nvPr>
            <p:ph type="body" sz="quarter" idx="23"/>
          </p:nvPr>
        </p:nvSpPr>
        <p:spPr>
          <a:xfrm>
            <a:off x="2590800" y="4389125"/>
            <a:ext cx="1328093" cy="4897113"/>
          </a:xfrm>
          <a:prstGeom prst="rect">
            <a:avLst/>
          </a:prstGeom>
        </p:spPr>
        <p:txBody>
          <a:bodyPr lIns="0" tIns="0" rIns="0" bIns="0" anchor="t">
            <a:spAutoFit/>
          </a:bodyPr>
          <a:lstStyle/>
          <a:p>
            <a:pPr marL="0" indent="0" defTabSz="470262">
              <a:lnSpc>
                <a:spcPct val="140000"/>
              </a:lnSpc>
              <a:spcBef>
                <a:spcPts val="0"/>
              </a:spcBef>
              <a:buSzTx/>
              <a:buNone/>
              <a:defRPr sz="4000">
                <a:solidFill>
                  <a:srgbClr val="FF5640"/>
                </a:solidFill>
              </a:defRPr>
            </a:pPr>
            <a:r>
              <a:t>01</a:t>
            </a:r>
          </a:p>
          <a:p>
            <a:pPr marL="0" indent="0" defTabSz="470262">
              <a:lnSpc>
                <a:spcPct val="140000"/>
              </a:lnSpc>
              <a:spcBef>
                <a:spcPts val="0"/>
              </a:spcBef>
              <a:buSzTx/>
              <a:buNone/>
              <a:defRPr sz="4000">
                <a:solidFill>
                  <a:srgbClr val="FF5640"/>
                </a:solidFill>
              </a:defRPr>
            </a:pPr>
            <a:r>
              <a:t>02</a:t>
            </a:r>
          </a:p>
          <a:p>
            <a:pPr marL="0" indent="0" defTabSz="470262">
              <a:lnSpc>
                <a:spcPct val="140000"/>
              </a:lnSpc>
              <a:spcBef>
                <a:spcPts val="0"/>
              </a:spcBef>
              <a:buSzTx/>
              <a:buNone/>
              <a:defRPr sz="4000">
                <a:solidFill>
                  <a:srgbClr val="FF5640"/>
                </a:solidFill>
              </a:defRPr>
            </a:pPr>
            <a:r>
              <a:t>03</a:t>
            </a:r>
          </a:p>
          <a:p>
            <a:pPr marL="0" indent="0" defTabSz="470262">
              <a:lnSpc>
                <a:spcPct val="140000"/>
              </a:lnSpc>
              <a:spcBef>
                <a:spcPts val="0"/>
              </a:spcBef>
              <a:buSzTx/>
              <a:buNone/>
              <a:defRPr sz="4000">
                <a:solidFill>
                  <a:srgbClr val="FF5640"/>
                </a:solidFill>
              </a:defRPr>
            </a:pPr>
            <a:r>
              <a:t>04</a:t>
            </a:r>
          </a:p>
          <a:p>
            <a:pPr marL="0" indent="0" defTabSz="470262">
              <a:lnSpc>
                <a:spcPct val="140000"/>
              </a:lnSpc>
              <a:spcBef>
                <a:spcPts val="0"/>
              </a:spcBef>
              <a:buSzTx/>
              <a:buNone/>
              <a:defRPr sz="4000">
                <a:solidFill>
                  <a:srgbClr val="FF5640"/>
                </a:solidFill>
              </a:defRPr>
            </a:pPr>
            <a:r>
              <a:t>05</a:t>
            </a:r>
          </a:p>
        </p:txBody>
      </p:sp>
      <p:pic>
        <p:nvPicPr>
          <p:cNvPr id="57" name="endava_symbol_RGB 1.png" descr="endava_symbol_RGB 1.png"/>
          <p:cNvPicPr>
            <a:picLocks noChangeAspect="1"/>
          </p:cNvPicPr>
          <p:nvPr userDrawn="1"/>
        </p:nvPicPr>
        <p:blipFill>
          <a:blip r:embed="rId4"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hapter dark">
    <p:bg>
      <p:bgPr>
        <a:solidFill>
          <a:srgbClr val="192B37"/>
        </a:solidFill>
        <a:effectLst/>
      </p:bgPr>
    </p:bg>
    <p:spTree>
      <p:nvGrpSpPr>
        <p:cNvPr id="1" name=""/>
        <p:cNvGrpSpPr/>
        <p:nvPr/>
      </p:nvGrpSpPr>
      <p:grpSpPr>
        <a:xfrm>
          <a:off x="0" y="0"/>
          <a:ext cx="0" cy="0"/>
          <a:chOff x="0" y="0"/>
          <a:chExt cx="0" cy="0"/>
        </a:xfrm>
      </p:grpSpPr>
      <p:sp>
        <p:nvSpPr>
          <p:cNvPr id="77" name="Title Text"/>
          <p:cNvSpPr txBox="1">
            <a:spLocks noGrp="1"/>
          </p:cNvSpPr>
          <p:nvPr>
            <p:ph type="title"/>
          </p:nvPr>
        </p:nvSpPr>
        <p:spPr>
          <a:xfrm>
            <a:off x="5289996" y="2795882"/>
            <a:ext cx="14122401" cy="3352801"/>
          </a:xfrm>
          <a:prstGeom prst="rect">
            <a:avLst/>
          </a:prstGeom>
        </p:spPr>
        <p:txBody>
          <a:bodyPr lIns="0" tIns="0" rIns="0" bIns="0"/>
          <a:lstStyle>
            <a:lvl1pPr>
              <a:lnSpc>
                <a:spcPct val="100000"/>
              </a:lnSpc>
              <a:spcBef>
                <a:spcPts val="0"/>
              </a:spcBef>
              <a:defRPr sz="9600" spc="0">
                <a:solidFill>
                  <a:srgbClr val="FFFFFF"/>
                </a:solidFill>
                <a:latin typeface="+mj-lt"/>
                <a:ea typeface="+mj-ea"/>
                <a:cs typeface="+mj-cs"/>
                <a:sym typeface="Poppins Medium"/>
              </a:defRPr>
            </a:lvl1pPr>
          </a:lstStyle>
          <a:p>
            <a:r>
              <a:t>Title Text</a:t>
            </a:r>
          </a:p>
        </p:txBody>
      </p:sp>
      <p:sp>
        <p:nvSpPr>
          <p:cNvPr id="79" name="Chapter"/>
          <p:cNvSpPr txBox="1"/>
          <p:nvPr/>
        </p:nvSpPr>
        <p:spPr>
          <a:xfrm>
            <a:off x="609600" y="1224265"/>
            <a:ext cx="1615562" cy="3556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a:solidFill>
                  <a:srgbClr val="FFFFFF"/>
                </a:solidFill>
              </a:defRPr>
            </a:lvl1pPr>
          </a:lstStyle>
          <a:p>
            <a:r>
              <a:t>Chapter</a:t>
            </a:r>
          </a:p>
        </p:txBody>
      </p:sp>
      <p:sp>
        <p:nvSpPr>
          <p:cNvPr id="80" name="01"/>
          <p:cNvSpPr txBox="1">
            <a:spLocks noGrp="1"/>
          </p:cNvSpPr>
          <p:nvPr>
            <p:ph type="body" sz="quarter" idx="21" hasCustomPrompt="1"/>
          </p:nvPr>
        </p:nvSpPr>
        <p:spPr>
          <a:xfrm>
            <a:off x="609600" y="2795879"/>
            <a:ext cx="2284402" cy="1477328"/>
          </a:xfrm>
          <a:prstGeom prst="rect">
            <a:avLst/>
          </a:prstGeom>
        </p:spPr>
        <p:txBody>
          <a:bodyPr lIns="0" tIns="0" rIns="0" bIns="0" anchor="t">
            <a:spAutoFit/>
          </a:bodyPr>
          <a:lstStyle>
            <a:lvl1pPr marL="0" indent="0" defTabSz="470262">
              <a:lnSpc>
                <a:spcPct val="100000"/>
              </a:lnSpc>
              <a:spcBef>
                <a:spcPts val="0"/>
              </a:spcBef>
              <a:buClrTx/>
              <a:buSzTx/>
              <a:buNone/>
              <a:defRPr sz="9600">
                <a:solidFill>
                  <a:srgbClr val="FFFFFF"/>
                </a:solidFill>
                <a:latin typeface="+mj-lt"/>
                <a:ea typeface="+mj-ea"/>
                <a:cs typeface="+mj-cs"/>
                <a:sym typeface="Poppins Medium"/>
              </a:defRPr>
            </a:lvl1pPr>
          </a:lstStyle>
          <a:p>
            <a:r>
              <a:t>01</a:t>
            </a:r>
          </a:p>
        </p:txBody>
      </p:sp>
      <p:sp>
        <p:nvSpPr>
          <p:cNvPr id="81" name="Insert presentation name or subtitle here if needed"/>
          <p:cNvSpPr txBox="1">
            <a:spLocks noGrp="1"/>
          </p:cNvSpPr>
          <p:nvPr>
            <p:ph type="body" sz="quarter" idx="22" hasCustomPrompt="1"/>
          </p:nvPr>
        </p:nvSpPr>
        <p:spPr>
          <a:xfrm>
            <a:off x="5301233" y="1224265"/>
            <a:ext cx="7253966" cy="355600"/>
          </a:xfrm>
          <a:prstGeom prst="rect">
            <a:avLst/>
          </a:prstGeom>
        </p:spPr>
        <p:txBody>
          <a:bodyPr lIns="0" tIns="0" rIns="0" bIns="0" anchor="t">
            <a:spAutoFit/>
          </a:bodyPr>
          <a:lstStyle>
            <a:lvl1pPr marL="0" indent="0">
              <a:buClrTx/>
              <a:buSzTx/>
              <a:buNone/>
              <a:defRPr sz="2000">
                <a:solidFill>
                  <a:srgbClr val="FFFFFF"/>
                </a:solidFill>
              </a:defRPr>
            </a:lvl1pPr>
          </a:lstStyle>
          <a:p>
            <a:r>
              <a:rPr dirty="0"/>
              <a:t>Insert subtitle if needed</a:t>
            </a:r>
          </a:p>
        </p:txBody>
      </p:sp>
      <p:sp>
        <p:nvSpPr>
          <p:cNvPr id="82"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pic>
        <p:nvPicPr>
          <p:cNvPr id="2" name="endava_brandshape_RGB_red.svg" descr="endava_brandshape_RGB_red.svg">
            <a:extLst>
              <a:ext uri="{FF2B5EF4-FFF2-40B4-BE49-F238E27FC236}">
                <a16:creationId xmlns:a16="http://schemas.microsoft.com/office/drawing/2014/main" id="{A3C3B100-D67A-6A1F-71CF-0AE68AAFE9C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916214" y="3241710"/>
            <a:ext cx="1142575" cy="457030"/>
          </a:xfrm>
          <a:prstGeom prst="rect">
            <a:avLst/>
          </a:prstGeom>
          <a:ln w="12700">
            <a:miter lim="400000"/>
          </a:ln>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Header and Footer Black">
    <p:bg>
      <p:bgPr>
        <a:solidFill>
          <a:srgbClr val="192B37"/>
        </a:solidFill>
        <a:effectLst/>
      </p:bgPr>
    </p:bg>
    <p:spTree>
      <p:nvGrpSpPr>
        <p:cNvPr id="1" name=""/>
        <p:cNvGrpSpPr/>
        <p:nvPr/>
      </p:nvGrpSpPr>
      <p:grpSpPr>
        <a:xfrm>
          <a:off x="0" y="0"/>
          <a:ext cx="0" cy="0"/>
          <a:chOff x="0" y="0"/>
          <a:chExt cx="0" cy="0"/>
        </a:xfrm>
      </p:grpSpPr>
      <p:pic>
        <p:nvPicPr>
          <p:cNvPr id="100" name="endava_symbol_RGB 1.png" descr="endava_symbol_RGB 1.png"/>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101"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103" name="Insert presentation name"/>
          <p:cNvSpPr txBox="1"/>
          <p:nvPr/>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dirty="0"/>
              <a:t>MCP In Action</a:t>
            </a:r>
          </a:p>
        </p:txBody>
      </p:sp>
      <p:sp>
        <p:nvSpPr>
          <p:cNvPr id="104" name="Slide Number"/>
          <p:cNvSpPr txBox="1">
            <a:spLocks noGrp="1"/>
          </p:cNvSpPr>
          <p:nvPr>
            <p:ph type="sldNum" sz="quarter" idx="2"/>
          </p:nvPr>
        </p:nvSpPr>
        <p:spPr>
          <a:xfrm>
            <a:off x="23489402" y="13134586"/>
            <a:ext cx="288542" cy="246221"/>
          </a:xfrm>
          <a:prstGeom prst="rect">
            <a:avLst/>
          </a:prstGeom>
        </p:spPr>
        <p:txBody>
          <a:bodyPr anchor="ctr"/>
          <a:lstStyle/>
          <a:p>
            <a:fld id="{86CB4B4D-7CA3-9044-876B-883B54F8677D}" type="slidenum">
              <a:rPr/>
              <a:t>‹#›</a:t>
            </a:fld>
            <a:endParaRPr/>
          </a:p>
        </p:txBody>
      </p:sp>
      <p:sp>
        <p:nvSpPr>
          <p:cNvPr id="2" name="Insert chapter name">
            <a:extLst>
              <a:ext uri="{FF2B5EF4-FFF2-40B4-BE49-F238E27FC236}">
                <a16:creationId xmlns:a16="http://schemas.microsoft.com/office/drawing/2014/main" id="{9F4D282D-D29D-3AED-1F6C-6CE2AE9FD156}"/>
              </a:ext>
            </a:extLst>
          </p:cNvPr>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FFFFFF"/>
            </a:solidFill>
          </a:ln>
        </p:spPr>
        <p:txBody>
          <a:bodyPr wrap="none" lIns="108000" tIns="36000" rIns="108000" bIns="36000">
            <a:spAutoFit/>
          </a:bodyPr>
          <a:lstStyle>
            <a:lvl1pPr marL="0" indent="0">
              <a:lnSpc>
                <a:spcPct val="100000"/>
              </a:lnSpc>
              <a:spcBef>
                <a:spcPts val="0"/>
              </a:spcBef>
              <a:buClrTx/>
              <a:buSzTx/>
              <a:buNone/>
              <a:defRPr sz="1400">
                <a:solidFill>
                  <a:srgbClr val="FFFFFF"/>
                </a:solidFill>
              </a:defRPr>
            </a:lvl1pPr>
          </a:lstStyle>
          <a:p>
            <a:r>
              <a:rPr lang="en-US"/>
              <a:t>Insert chapter name</a:t>
            </a:r>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Footer Black">
    <p:bg>
      <p:bgPr>
        <a:solidFill>
          <a:srgbClr val="192B37"/>
        </a:solidFill>
        <a:effectLst/>
      </p:bgPr>
    </p:bg>
    <p:spTree>
      <p:nvGrpSpPr>
        <p:cNvPr id="1" name=""/>
        <p:cNvGrpSpPr/>
        <p:nvPr/>
      </p:nvGrpSpPr>
      <p:grpSpPr>
        <a:xfrm>
          <a:off x="0" y="0"/>
          <a:ext cx="0" cy="0"/>
          <a:chOff x="0" y="0"/>
          <a:chExt cx="0" cy="0"/>
        </a:xfrm>
      </p:grpSpPr>
      <p:sp>
        <p:nvSpPr>
          <p:cNvPr id="157"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158" name="Slide Number"/>
          <p:cNvSpPr txBox="1">
            <a:spLocks noGrp="1"/>
          </p:cNvSpPr>
          <p:nvPr>
            <p:ph type="sldNum" sz="quarter" idx="2"/>
          </p:nvPr>
        </p:nvSpPr>
        <p:spPr>
          <a:prstGeom prst="rect">
            <a:avLst/>
          </a:prstGeom>
        </p:spPr>
        <p:txBody>
          <a:bodyPr anchor="ctr"/>
          <a:lstStyle/>
          <a:p>
            <a:fld id="{86CB4B4D-7CA3-9044-876B-883B54F8677D}" type="slidenum">
              <a:rPr/>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lide Number Black">
    <p:bg>
      <p:bgPr>
        <a:solidFill>
          <a:srgbClr val="192B37"/>
        </a:solidFill>
        <a:effectLst/>
      </p:bgPr>
    </p:bg>
    <p:spTree>
      <p:nvGrpSpPr>
        <p:cNvPr id="1" name=""/>
        <p:cNvGrpSpPr/>
        <p:nvPr/>
      </p:nvGrpSpPr>
      <p:grpSpPr>
        <a:xfrm>
          <a:off x="0" y="0"/>
          <a:ext cx="0" cy="0"/>
          <a:chOff x="0" y="0"/>
          <a:chExt cx="0" cy="0"/>
        </a:xfrm>
      </p:grpSpPr>
      <p:sp>
        <p:nvSpPr>
          <p:cNvPr id="172"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1625600"/>
            <a:ext cx="22085300" cy="228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rPr dirty="0"/>
              <a:t>Title Text</a:t>
            </a:r>
          </a:p>
        </p:txBody>
      </p:sp>
      <p:sp>
        <p:nvSpPr>
          <p:cNvPr id="3" name="Body Level One…"/>
          <p:cNvSpPr txBox="1">
            <a:spLocks noGrp="1"/>
          </p:cNvSpPr>
          <p:nvPr>
            <p:ph type="body" idx="1"/>
          </p:nvPr>
        </p:nvSpPr>
        <p:spPr>
          <a:xfrm>
            <a:off x="609600" y="3911600"/>
            <a:ext cx="22085300" cy="85344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t">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RO" dirty="0"/>
          </a:p>
        </p:txBody>
      </p:sp>
      <p:sp>
        <p:nvSpPr>
          <p:cNvPr id="4" name="Slide Number"/>
          <p:cNvSpPr txBox="1">
            <a:spLocks noGrp="1"/>
          </p:cNvSpPr>
          <p:nvPr>
            <p:ph type="sldNum" sz="quarter" idx="2"/>
          </p:nvPr>
        </p:nvSpPr>
        <p:spPr>
          <a:xfrm>
            <a:off x="23489402" y="13132800"/>
            <a:ext cx="288542" cy="246221"/>
          </a:xfrm>
          <a:prstGeom prst="rect">
            <a:avLst/>
          </a:prstGeom>
          <a:ln w="12700">
            <a:miter lim="400000"/>
          </a:ln>
        </p:spPr>
        <p:txBody>
          <a:bodyPr wrap="none" lIns="0" tIns="0" rIns="0" bIns="0" anchor="ctr">
            <a:spAutoFit/>
          </a:bodyPr>
          <a:lstStyle>
            <a:lvl1pPr algn="r" defTabSz="825500">
              <a:lnSpc>
                <a:spcPct val="100000"/>
              </a:lnSpc>
              <a:spcBef>
                <a:spcPts val="0"/>
              </a:spcBef>
              <a:defRPr sz="1600">
                <a:solidFill>
                  <a:srgbClr val="8C959B"/>
                </a:solidFill>
              </a:defRPr>
            </a:lvl1pPr>
          </a:lstStyle>
          <a:p>
            <a:fld id="{86CB4B4D-7CA3-9044-876B-883B54F8677D}" type="slidenum">
              <a:rPr lang="en-RO" smtClean="0"/>
              <a:pPr/>
              <a:t>‹#›</a:t>
            </a:fld>
            <a:endParaRPr lang="en-RO"/>
          </a:p>
        </p:txBody>
      </p:sp>
    </p:spTree>
  </p:cSld>
  <p:clrMap bg1="lt1" tx1="dk1" bg2="lt2" tx2="dk2" accent1="accent1" accent2="accent2" accent3="accent3" accent4="accent4" accent5="accent5" accent6="accent6" hlink="hlink" folHlink="folHlink"/>
  <p:sldLayoutIdLst>
    <p:sldLayoutId id="2147483651" r:id="rId1"/>
    <p:sldLayoutId id="2147483666" r:id="rId2"/>
    <p:sldLayoutId id="2147483653" r:id="rId3"/>
    <p:sldLayoutId id="2147483655" r:id="rId4"/>
    <p:sldLayoutId id="2147483657" r:id="rId5"/>
    <p:sldLayoutId id="2147483663" r:id="rId6"/>
    <p:sldLayoutId id="2147483665" r:id="rId7"/>
  </p:sldLayoutIdLst>
  <p:transition spd="med"/>
  <p:txStyles>
    <p:titleStyle>
      <a:lvl1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j-lt"/>
          <a:ea typeface="+mn-ea"/>
          <a:cs typeface="+mn-cs"/>
          <a:sym typeface="Poppins Regular"/>
        </a:defRPr>
      </a:lvl1pPr>
      <a:lvl2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2pPr>
      <a:lvl3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3pPr>
      <a:lvl4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4pPr>
      <a:lvl5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5pPr>
      <a:lvl6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6pPr>
      <a:lvl7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7pPr>
      <a:lvl8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8pPr>
      <a:lvl9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9pPr>
    </p:titleStyle>
    <p:bodyStyle>
      <a:lvl1pPr marL="342900" marR="0" indent="-342900" algn="l" defTabSz="821531" rtl="0" latinLnBrk="0">
        <a:lnSpc>
          <a:spcPct val="120000"/>
        </a:lnSpc>
        <a:spcBef>
          <a:spcPts val="1500"/>
        </a:spcBef>
        <a:spcAft>
          <a:spcPts val="0"/>
        </a:spcAft>
        <a:buClr>
          <a:srgbClr val="FF4230"/>
        </a:buClr>
        <a:buSzPct val="120000"/>
        <a:buFont typeface="Arial" panose="020B0604020202020204" pitchFamily="34" charset="0"/>
        <a:buChar char="•"/>
        <a:tabLst/>
        <a:defRPr lang="en-US" sz="2400" b="0" i="0" u="none" strike="noStrike" cap="none" spc="0" baseline="0" dirty="0">
          <a:solidFill>
            <a:srgbClr val="192B37"/>
          </a:solidFill>
          <a:uFillTx/>
          <a:latin typeface="+mn-lt"/>
          <a:ea typeface="+mn-ea"/>
          <a:cs typeface="+mn-cs"/>
          <a:sym typeface="Poppins Regular"/>
        </a:defRPr>
      </a:lvl1pPr>
      <a:lvl2pPr marL="899583" marR="0" indent="-252000" algn="l" defTabSz="821531" rtl="0" latinLnBrk="0">
        <a:lnSpc>
          <a:spcPct val="120000"/>
        </a:lnSpc>
        <a:spcBef>
          <a:spcPts val="1500"/>
        </a:spcBef>
        <a:spcAft>
          <a:spcPts val="0"/>
        </a:spcAft>
        <a:buClr>
          <a:srgbClr val="FF4230"/>
        </a:buClr>
        <a:buSzPct val="120000"/>
        <a:buFontTx/>
        <a:buChar char="•"/>
        <a:tabLst/>
        <a:defRPr sz="2000" b="0" i="0" u="none" strike="noStrike" cap="none" spc="0" baseline="0">
          <a:solidFill>
            <a:srgbClr val="192B37"/>
          </a:solidFill>
          <a:uFillTx/>
          <a:latin typeface="+mn-lt"/>
          <a:ea typeface="+mn-ea"/>
          <a:cs typeface="+mn-cs"/>
          <a:sym typeface="Poppins Regular"/>
        </a:defRPr>
      </a:lvl2pPr>
      <a:lvl3pPr marL="153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3pPr>
      <a:lvl4pPr marL="2169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4pPr>
      <a:lvl5pPr marL="280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5pPr>
      <a:lvl6pPr marL="343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6pPr>
      <a:lvl7pPr marL="407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7pPr>
      <a:lvl8pPr marL="470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8pPr>
      <a:lvl9pPr marL="534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9pPr>
    </p:bodyStyle>
    <p:otherStyle>
      <a:lvl1pPr marL="0" marR="0" indent="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1pPr>
      <a:lvl2pPr marL="0" marR="0" indent="228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2pPr>
      <a:lvl3pPr marL="0" marR="0" indent="457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3pPr>
      <a:lvl4pPr marL="0" marR="0" indent="685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4pPr>
      <a:lvl5pPr marL="0" marR="0" indent="9144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5pPr>
      <a:lvl6pPr marL="0" marR="0" indent="11430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6pPr>
      <a:lvl7pPr marL="0" marR="0" indent="1371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7pPr>
      <a:lvl8pPr marL="0" marR="0" indent="1600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8pPr>
      <a:lvl9pPr marL="0" marR="0" indent="1828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www.anthropic.com/engineering/building-effective-agents"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anthropic.com/news/model-context-protocol"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odelcontextprotocol/servers"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hyperlink" Target="https://github.com/openbnb-org/mcp-server-airbnb"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en-us/dotnet/ai/quickstarts/build-mcp-server"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hyperlink" Target="https://mcp.so/clients" TargetMode="External"/><Relationship Id="rId3" Type="http://schemas.openxmlformats.org/officeDocument/2006/relationships/hyperlink" Target="https://modelcontextprotocol.io/docs/getting-started/intro" TargetMode="External"/><Relationship Id="rId7" Type="http://schemas.openxmlformats.org/officeDocument/2006/relationships/hyperlink" Target="https://modelcontextprotocol.io/clients"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hyperlink" Target="https://mcp.so/servers" TargetMode="External"/><Relationship Id="rId5" Type="http://schemas.openxmlformats.org/officeDocument/2006/relationships/hyperlink" Target="https://github.com/modelcontextprotocol/servers" TargetMode="External"/><Relationship Id="rId10" Type="http://schemas.openxmlformats.org/officeDocument/2006/relationships/hyperlink" Target="https://github.com/microsoft/mcp-for-beginners" TargetMode="External"/><Relationship Id="rId4" Type="http://schemas.openxmlformats.org/officeDocument/2006/relationships/hyperlink" Target="https://github.com/modelcontextprotocol" TargetMode="External"/><Relationship Id="rId9" Type="http://schemas.openxmlformats.org/officeDocument/2006/relationships/hyperlink" Target="https://github.com/modelcontextprotocol/csharp-sdk"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nsert presentation…"/>
          <p:cNvSpPr txBox="1">
            <a:spLocks noGrp="1"/>
          </p:cNvSpPr>
          <p:nvPr>
            <p:ph type="title"/>
          </p:nvPr>
        </p:nvSpPr>
        <p:spPr>
          <a:prstGeom prst="rect">
            <a:avLst/>
          </a:prstGeom>
        </p:spPr>
        <p:txBody>
          <a:bodyPr/>
          <a:lstStyle/>
          <a:p>
            <a:pPr>
              <a:lnSpc>
                <a:spcPct val="100000"/>
              </a:lnSpc>
            </a:pPr>
            <a:r>
              <a:rPr lang="en-US" dirty="0"/>
              <a:t>MCP in Action</a:t>
            </a:r>
            <a:br>
              <a:rPr lang="en-US" dirty="0"/>
            </a:br>
            <a:r>
              <a:rPr lang="en-US" dirty="0"/>
              <a:t>			Building Smarter AI-Driven Applications with LLMs and Agents</a:t>
            </a:r>
            <a:r>
              <a:rPr lang="en-US" dirty="0">
                <a:solidFill>
                  <a:srgbClr val="FF5640"/>
                </a:solidFill>
              </a:rPr>
              <a:t>.</a:t>
            </a:r>
            <a:endParaRPr dirty="0">
              <a:solidFill>
                <a:srgbClr val="FF5640"/>
              </a:solidFill>
            </a:endParaRPr>
          </a:p>
        </p:txBody>
      </p:sp>
      <p:pic>
        <p:nvPicPr>
          <p:cNvPr id="2" name="arrow.svg" descr="arrow.svg">
            <a:extLst>
              <a:ext uri="{FF2B5EF4-FFF2-40B4-BE49-F238E27FC236}">
                <a16:creationId xmlns:a16="http://schemas.microsoft.com/office/drawing/2014/main" id="{708F5AB2-FD10-8B2A-82AB-6CFC8107122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613404" y="8042557"/>
            <a:ext cx="1188452" cy="1131007"/>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lide Number"/>
          <p:cNvSpPr txBox="1">
            <a:spLocks noGrp="1"/>
          </p:cNvSpPr>
          <p:nvPr>
            <p:ph type="sldNum" sz="quarter" idx="2"/>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2</a:t>
            </a:fld>
            <a:endParaRPr dirty="0"/>
          </a:p>
        </p:txBody>
      </p:sp>
      <p:sp>
        <p:nvSpPr>
          <p:cNvPr id="274" name="The key to a successful presentation is a     combination of clear, well-structured content and engaging…"/>
          <p:cNvSpPr txBox="1"/>
          <p:nvPr/>
        </p:nvSpPr>
        <p:spPr>
          <a:xfrm>
            <a:off x="614427" y="1622830"/>
            <a:ext cx="22545546" cy="1034129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p>
            <a:pPr defTabSz="470262">
              <a:lnSpc>
                <a:spcPct val="100000"/>
              </a:lnSpc>
              <a:spcBef>
                <a:spcPts val="0"/>
              </a:spcBef>
              <a:defRPr sz="9600">
                <a:solidFill>
                  <a:srgbClr val="FFFFFF"/>
                </a:solidFill>
                <a:latin typeface="+mj-lt"/>
                <a:ea typeface="+mj-ea"/>
                <a:cs typeface="+mj-cs"/>
                <a:sym typeface="Poppins Medium"/>
              </a:defRPr>
            </a:pPr>
            <a:r>
              <a:rPr lang="en-US" dirty="0"/>
              <a:t>Discover    how MCP enables LLMs and agents to interact with your application logic</a:t>
            </a:r>
            <a:r>
              <a:rPr lang="en-US" dirty="0">
                <a:solidFill>
                  <a:schemeClr val="bg1"/>
                </a:solidFill>
              </a:rPr>
              <a:t>.</a:t>
            </a:r>
            <a:r>
              <a:rPr dirty="0"/>
              <a:t> </a:t>
            </a:r>
          </a:p>
          <a:p>
            <a:pPr defTabSz="470262">
              <a:lnSpc>
                <a:spcPct val="100000"/>
              </a:lnSpc>
              <a:spcBef>
                <a:spcPts val="0"/>
              </a:spcBef>
              <a:defRPr sz="9600">
                <a:solidFill>
                  <a:srgbClr val="FFFFFF"/>
                </a:solidFill>
                <a:latin typeface="+mj-lt"/>
                <a:ea typeface="+mj-ea"/>
                <a:cs typeface="+mj-cs"/>
                <a:sym typeface="Poppins Medium"/>
              </a:defRPr>
            </a:pPr>
            <a:r>
              <a:rPr dirty="0"/>
              <a:t> </a:t>
            </a:r>
            <a:r>
              <a:rPr lang="en-US" dirty="0"/>
              <a:t>   We’ll break down the basics of LLMs and agents, introduce the MCP model, and showcase a practical demo</a:t>
            </a:r>
            <a:r>
              <a:rPr lang="en-US" dirty="0">
                <a:solidFill>
                  <a:srgbClr val="FF4230"/>
                </a:solidFill>
              </a:rPr>
              <a:t>.</a:t>
            </a:r>
            <a:endParaRPr dirty="0">
              <a:solidFill>
                <a:srgbClr val="FF4230"/>
              </a:solidFill>
            </a:endParaRPr>
          </a:p>
        </p:txBody>
      </p:sp>
      <p:pic>
        <p:nvPicPr>
          <p:cNvPr id="4" name="arrow.svg" descr="arrow.svg">
            <a:extLst>
              <a:ext uri="{FF2B5EF4-FFF2-40B4-BE49-F238E27FC236}">
                <a16:creationId xmlns:a16="http://schemas.microsoft.com/office/drawing/2014/main" id="{37A0170D-6289-5978-AFF5-7B70969FA242}"/>
              </a:ext>
            </a:extLst>
          </p:cNvPr>
          <p:cNvPicPr>
            <a:picLocks noChangeAspect="1"/>
          </p:cNvPicPr>
          <p:nvPr/>
        </p:nvPicPr>
        <p:blipFill>
          <a:blip r:embed="rId2"/>
          <a:stretch>
            <a:fillRect/>
          </a:stretch>
        </p:blipFill>
        <p:spPr>
          <a:xfrm>
            <a:off x="602560" y="6099684"/>
            <a:ext cx="1219201" cy="1219201"/>
          </a:xfrm>
          <a:prstGeom prst="rect">
            <a:avLst/>
          </a:prstGeom>
          <a:ln w="12700">
            <a:miter lim="400000"/>
          </a:ln>
        </p:spPr>
      </p:pic>
      <p:pic>
        <p:nvPicPr>
          <p:cNvPr id="7" name="search-96px.svg">
            <a:extLst>
              <a:ext uri="{FF2B5EF4-FFF2-40B4-BE49-F238E27FC236}">
                <a16:creationId xmlns:a16="http://schemas.microsoft.com/office/drawing/2014/main" id="{9DB2A827-EE9A-FA80-F7F7-9FA17CFF7DC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p:blipFill>
        <p:spPr>
          <a:xfrm>
            <a:off x="5867534" y="1622830"/>
            <a:ext cx="1183918" cy="1183918"/>
          </a:xfrm>
          <a:prstGeom prst="rect">
            <a:avLst/>
          </a:prstGeom>
          <a:ln w="12700" cap="flat">
            <a:noFill/>
            <a:miter lim="400000"/>
          </a:ln>
          <a:effec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Insert short chapter name…"/>
          <p:cNvSpPr txBox="1">
            <a:spLocks noGrp="1"/>
          </p:cNvSpPr>
          <p:nvPr>
            <p:ph type="body" sz="quarter" idx="21"/>
          </p:nvPr>
        </p:nvSpPr>
        <p:spPr>
          <a:xfrm>
            <a:off x="4566592" y="4389125"/>
            <a:ext cx="9263708" cy="2682786"/>
          </a:xfrm>
          <a:prstGeom prst="rect">
            <a:avLst/>
          </a:prstGeom>
        </p:spPr>
        <p:txBody>
          <a:bodyPr/>
          <a:lstStyle/>
          <a:p>
            <a:pPr marL="0" indent="0" defTabSz="470262">
              <a:lnSpc>
                <a:spcPct val="150000"/>
              </a:lnSpc>
              <a:spcBef>
                <a:spcPts val="0"/>
              </a:spcBef>
              <a:buClr>
                <a:srgbClr val="FFFFFF"/>
              </a:buClr>
              <a:buSzTx/>
              <a:buNone/>
              <a:defRPr sz="4000">
                <a:solidFill>
                  <a:srgbClr val="FFFFFF"/>
                </a:solidFill>
              </a:defRPr>
            </a:pPr>
            <a:r>
              <a:rPr lang="en-US" dirty="0"/>
              <a:t>The History That Led to MCP</a:t>
            </a:r>
          </a:p>
          <a:p>
            <a:pPr marL="0" indent="0" defTabSz="470262">
              <a:lnSpc>
                <a:spcPct val="150000"/>
              </a:lnSpc>
              <a:spcBef>
                <a:spcPts val="0"/>
              </a:spcBef>
              <a:buClr>
                <a:srgbClr val="FFFFFF"/>
              </a:buClr>
              <a:buSzTx/>
              <a:buNone/>
              <a:defRPr sz="4000">
                <a:solidFill>
                  <a:srgbClr val="FFFFFF"/>
                </a:solidFill>
              </a:defRPr>
            </a:pPr>
            <a:r>
              <a:rPr lang="en-US" dirty="0"/>
              <a:t>Why MCP</a:t>
            </a:r>
          </a:p>
          <a:p>
            <a:pPr marL="0" indent="0" defTabSz="470262">
              <a:lnSpc>
                <a:spcPct val="150000"/>
              </a:lnSpc>
              <a:spcBef>
                <a:spcPts val="0"/>
              </a:spcBef>
              <a:buClr>
                <a:srgbClr val="FFFFFF"/>
              </a:buClr>
              <a:buSzTx/>
              <a:buNone/>
              <a:defRPr sz="4000">
                <a:solidFill>
                  <a:srgbClr val="FFFFFF"/>
                </a:solidFill>
              </a:defRPr>
            </a:pPr>
            <a:r>
              <a:rPr lang="en-US" dirty="0"/>
              <a:t>Demo</a:t>
            </a:r>
            <a:endParaRPr dirty="0"/>
          </a:p>
        </p:txBody>
      </p:sp>
      <p:sp>
        <p:nvSpPr>
          <p:cNvPr id="242" name="Pag. 4…"/>
          <p:cNvSpPr txBox="1">
            <a:spLocks noGrp="1"/>
          </p:cNvSpPr>
          <p:nvPr>
            <p:ph type="body" sz="quarter" idx="22"/>
          </p:nvPr>
        </p:nvSpPr>
        <p:spPr>
          <a:xfrm>
            <a:off x="14478000" y="4630425"/>
            <a:ext cx="1217274" cy="2338076"/>
          </a:xfrm>
          <a:prstGeom prst="rect">
            <a:avLst/>
          </a:prstGeom>
        </p:spPr>
        <p:txBody>
          <a:bodyPr/>
          <a:lstStyle/>
          <a:p>
            <a:pPr marL="0" indent="0">
              <a:lnSpc>
                <a:spcPct val="280000"/>
              </a:lnSpc>
              <a:buClrTx/>
              <a:buSzTx/>
              <a:buNone/>
              <a:defRPr sz="1600">
                <a:solidFill>
                  <a:srgbClr val="FFFFFF"/>
                </a:solidFill>
              </a:defRPr>
            </a:pPr>
            <a:r>
              <a:rPr dirty="0"/>
              <a:t>Pag. 4</a:t>
            </a:r>
          </a:p>
          <a:p>
            <a:pPr marL="0" indent="0">
              <a:lnSpc>
                <a:spcPct val="280000"/>
              </a:lnSpc>
              <a:buClrTx/>
              <a:buSzTx/>
              <a:buNone/>
              <a:defRPr sz="1600">
                <a:solidFill>
                  <a:srgbClr val="FFFFFF"/>
                </a:solidFill>
              </a:defRPr>
            </a:pPr>
            <a:r>
              <a:rPr dirty="0"/>
              <a:t>Pag. 11</a:t>
            </a:r>
          </a:p>
          <a:p>
            <a:pPr marL="0" indent="0">
              <a:lnSpc>
                <a:spcPct val="280000"/>
              </a:lnSpc>
              <a:buClrTx/>
              <a:buSzTx/>
              <a:buNone/>
              <a:defRPr sz="1600">
                <a:solidFill>
                  <a:srgbClr val="FFFFFF"/>
                </a:solidFill>
              </a:defRPr>
            </a:pPr>
            <a:r>
              <a:rPr dirty="0"/>
              <a:t>Pag. 15</a:t>
            </a:r>
          </a:p>
        </p:txBody>
      </p:sp>
      <p:sp>
        <p:nvSpPr>
          <p:cNvPr id="243" name="01…"/>
          <p:cNvSpPr txBox="1">
            <a:spLocks noGrp="1"/>
          </p:cNvSpPr>
          <p:nvPr>
            <p:ph type="body" sz="quarter" idx="23"/>
          </p:nvPr>
        </p:nvSpPr>
        <p:spPr>
          <a:xfrm>
            <a:off x="2590800" y="4389125"/>
            <a:ext cx="1328093" cy="2682786"/>
          </a:xfrm>
          <a:prstGeom prst="rect">
            <a:avLst/>
          </a:prstGeom>
        </p:spPr>
        <p:txBody>
          <a:bodyPr/>
          <a:lstStyle/>
          <a:p>
            <a:pPr marL="0" indent="0" defTabSz="470262">
              <a:lnSpc>
                <a:spcPct val="150000"/>
              </a:lnSpc>
              <a:spcBef>
                <a:spcPts val="0"/>
              </a:spcBef>
              <a:buSzTx/>
              <a:buNone/>
              <a:defRPr sz="4000">
                <a:solidFill>
                  <a:srgbClr val="FF5640"/>
                </a:solidFill>
              </a:defRPr>
            </a:pPr>
            <a:r>
              <a:rPr dirty="0"/>
              <a:t>01</a:t>
            </a:r>
          </a:p>
          <a:p>
            <a:pPr marL="0" indent="0" defTabSz="470262">
              <a:lnSpc>
                <a:spcPct val="150000"/>
              </a:lnSpc>
              <a:spcBef>
                <a:spcPts val="0"/>
              </a:spcBef>
              <a:buSzTx/>
              <a:buNone/>
              <a:defRPr sz="4000">
                <a:solidFill>
                  <a:srgbClr val="FF5640"/>
                </a:solidFill>
              </a:defRPr>
            </a:pPr>
            <a:r>
              <a:rPr dirty="0"/>
              <a:t>02</a:t>
            </a:r>
          </a:p>
          <a:p>
            <a:pPr marL="0" indent="0" defTabSz="470262">
              <a:lnSpc>
                <a:spcPct val="150000"/>
              </a:lnSpc>
              <a:spcBef>
                <a:spcPts val="0"/>
              </a:spcBef>
              <a:buSzTx/>
              <a:buNone/>
              <a:defRPr sz="4000">
                <a:solidFill>
                  <a:srgbClr val="FF5640"/>
                </a:solidFill>
              </a:defRPr>
            </a:pPr>
            <a:r>
              <a:rPr dirty="0"/>
              <a:t>03</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Insert chapter 1 name here"/>
          <p:cNvSpPr txBox="1">
            <a:spLocks noGrp="1"/>
          </p:cNvSpPr>
          <p:nvPr>
            <p:ph type="title"/>
          </p:nvPr>
        </p:nvSpPr>
        <p:spPr>
          <a:prstGeom prst="rect">
            <a:avLst/>
          </a:prstGeom>
        </p:spPr>
        <p:txBody>
          <a:bodyPr/>
          <a:lstStyle/>
          <a:p>
            <a:r>
              <a:rPr lang="en-US" dirty="0"/>
              <a:t>The History That Led to MCP</a:t>
            </a:r>
            <a:endParaRPr dirty="0"/>
          </a:p>
        </p:txBody>
      </p:sp>
      <p:sp>
        <p:nvSpPr>
          <p:cNvPr id="254" name="01"/>
          <p:cNvSpPr txBox="1">
            <a:spLocks noGrp="1"/>
          </p:cNvSpPr>
          <p:nvPr>
            <p:ph type="body" sz="quarter" idx="21"/>
          </p:nvPr>
        </p:nvSpPr>
        <p:spPr>
          <a:prstGeom prst="rect">
            <a:avLst/>
          </a:prstGeom>
        </p:spPr>
        <p:txBody>
          <a:bodyPr/>
          <a:lstStyle/>
          <a:p>
            <a:r>
              <a:rPr dirty="0"/>
              <a:t>01</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FF391-5EB8-C1AE-FE32-9A093DDE2E0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BB23EED9-762D-898F-5B42-DBD786BBD4A5}"/>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dirty="0"/>
          </a:p>
        </p:txBody>
      </p:sp>
      <p:sp>
        <p:nvSpPr>
          <p:cNvPr id="478" name="Insert chapter name">
            <a:extLst>
              <a:ext uri="{FF2B5EF4-FFF2-40B4-BE49-F238E27FC236}">
                <a16:creationId xmlns:a16="http://schemas.microsoft.com/office/drawing/2014/main" id="{9546BB25-46CC-6099-A933-70CEC62C4E64}"/>
              </a:ext>
            </a:extLst>
          </p:cNvPr>
          <p:cNvSpPr>
            <a:spLocks noGrp="1"/>
          </p:cNvSpPr>
          <p:nvPr>
            <p:ph type="body" sz="quarter" idx="21"/>
          </p:nvPr>
        </p:nvSpPr>
        <p:spPr>
          <a:xfrm>
            <a:off x="609599" y="207804"/>
            <a:ext cx="2755393" cy="405189"/>
          </a:xfrm>
          <a:prstGeom prst="roundRect">
            <a:avLst>
              <a:gd name="adj" fmla="val 50000"/>
            </a:avLst>
          </a:prstGeom>
        </p:spPr>
        <p:txBody>
          <a:bodyPr>
            <a:normAutofit/>
          </a:bodyPr>
          <a:lstStyle/>
          <a:p>
            <a:r>
              <a:rPr lang="en-US" dirty="0"/>
              <a:t>The History That Led to MCP</a:t>
            </a:r>
            <a:endParaRPr dirty="0"/>
          </a:p>
        </p:txBody>
      </p:sp>
      <p:sp>
        <p:nvSpPr>
          <p:cNvPr id="480" name="Insert long title here">
            <a:extLst>
              <a:ext uri="{FF2B5EF4-FFF2-40B4-BE49-F238E27FC236}">
                <a16:creationId xmlns:a16="http://schemas.microsoft.com/office/drawing/2014/main" id="{656D304A-7A5F-EB17-2B34-042ADD0F38BA}"/>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Early LLM Capabilities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08EAEFF6-1AFE-B83D-F628-587D9B9C7190}"/>
              </a:ext>
            </a:extLst>
          </p:cNvPr>
          <p:cNvSpPr txBox="1"/>
          <p:nvPr/>
        </p:nvSpPr>
        <p:spPr>
          <a:xfrm>
            <a:off x="636201" y="3975100"/>
            <a:ext cx="13371899" cy="36291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From Static Models to Interactive AI</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LLMs are enormous neural networks (probabilistic model) that predict the next token/word</a:t>
            </a:r>
            <a:r>
              <a:rPr lang="en-US" b="1" kern="100" dirty="0">
                <a:solidFill>
                  <a:srgbClr val="FFFFFF"/>
                </a:solidFill>
                <a:effectLst/>
                <a:ea typeface="Calibri" panose="020F0502020204030204" pitchFamily="34" charset="0"/>
                <a:cs typeface="Times New Roman" panose="02020603050405020304" pitchFamily="18" charset="0"/>
              </a:rPr>
              <a:t> </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LLMs were originally "text-in, text-out"</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way to access live data </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awareness of external systems</a:t>
            </a:r>
            <a:endParaRPr lang="en-US" b="1"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way to take actions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pic>
        <p:nvPicPr>
          <p:cNvPr id="4" name="Picture 3" descr="A diagram of a flowchart&#10;&#10;AI-generated content may be incorrect.">
            <a:extLst>
              <a:ext uri="{FF2B5EF4-FFF2-40B4-BE49-F238E27FC236}">
                <a16:creationId xmlns:a16="http://schemas.microsoft.com/office/drawing/2014/main" id="{8191235B-8F38-CD7A-8349-F3037B722801}"/>
              </a:ext>
            </a:extLst>
          </p:cNvPr>
          <p:cNvPicPr>
            <a:picLocks noChangeAspect="1"/>
          </p:cNvPicPr>
          <p:nvPr/>
        </p:nvPicPr>
        <p:blipFill>
          <a:blip r:embed="rId3"/>
          <a:stretch>
            <a:fillRect/>
          </a:stretch>
        </p:blipFill>
        <p:spPr>
          <a:xfrm>
            <a:off x="3364992" y="8492746"/>
            <a:ext cx="9967828" cy="4002760"/>
          </a:xfrm>
          <a:prstGeom prst="rect">
            <a:avLst/>
          </a:prstGeom>
        </p:spPr>
      </p:pic>
      <p:pic>
        <p:nvPicPr>
          <p:cNvPr id="6" name="Picture 5" descr="A diagram of a flowchart&#10;&#10;AI-generated content may be incorrect.">
            <a:extLst>
              <a:ext uri="{FF2B5EF4-FFF2-40B4-BE49-F238E27FC236}">
                <a16:creationId xmlns:a16="http://schemas.microsoft.com/office/drawing/2014/main" id="{07C3D928-8140-DBD1-B310-501BED2CA9F0}"/>
              </a:ext>
            </a:extLst>
          </p:cNvPr>
          <p:cNvPicPr>
            <a:picLocks noChangeAspect="1"/>
          </p:cNvPicPr>
          <p:nvPr/>
        </p:nvPicPr>
        <p:blipFill>
          <a:blip r:embed="rId4"/>
          <a:stretch>
            <a:fillRect/>
          </a:stretch>
        </p:blipFill>
        <p:spPr>
          <a:xfrm>
            <a:off x="17245585" y="3298256"/>
            <a:ext cx="4889860" cy="7378192"/>
          </a:xfrm>
          <a:prstGeom prst="rect">
            <a:avLst/>
          </a:prstGeom>
        </p:spPr>
      </p:pic>
    </p:spTree>
    <p:extLst>
      <p:ext uri="{BB962C8B-B14F-4D97-AF65-F5344CB8AC3E}">
        <p14:creationId xmlns:p14="http://schemas.microsoft.com/office/powerpoint/2010/main" val="114833871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7CDC-B086-981E-A5C3-ACC33F5D8B5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7F2C1B91-9B4A-647B-AAE3-730D6531125F}"/>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dirty="0"/>
          </a:p>
        </p:txBody>
      </p:sp>
      <p:sp>
        <p:nvSpPr>
          <p:cNvPr id="478" name="Insert chapter name">
            <a:extLst>
              <a:ext uri="{FF2B5EF4-FFF2-40B4-BE49-F238E27FC236}">
                <a16:creationId xmlns:a16="http://schemas.microsoft.com/office/drawing/2014/main" id="{6267A48B-0D71-889E-E4A7-D09A10769CA9}"/>
              </a:ext>
            </a:extLst>
          </p:cNvPr>
          <p:cNvSpPr>
            <a:spLocks noGrp="1"/>
          </p:cNvSpPr>
          <p:nvPr>
            <p:ph type="body" sz="quarter" idx="21"/>
          </p:nvPr>
        </p:nvSpPr>
        <p:spPr>
          <a:xfrm>
            <a:off x="609599" y="207804"/>
            <a:ext cx="2755393" cy="405189"/>
          </a:xfrm>
          <a:prstGeom prst="roundRect">
            <a:avLst>
              <a:gd name="adj" fmla="val 50000"/>
            </a:avLst>
          </a:prstGeom>
        </p:spPr>
        <p:txBody>
          <a:bodyPr>
            <a:normAutofit/>
          </a:bodyPr>
          <a:lstStyle/>
          <a:p>
            <a:r>
              <a:rPr lang="en-US" dirty="0"/>
              <a:t>The History That Led to MCP</a:t>
            </a:r>
            <a:endParaRPr dirty="0"/>
          </a:p>
        </p:txBody>
      </p:sp>
      <p:sp>
        <p:nvSpPr>
          <p:cNvPr id="480" name="Insert long title here">
            <a:extLst>
              <a:ext uri="{FF2B5EF4-FFF2-40B4-BE49-F238E27FC236}">
                <a16:creationId xmlns:a16="http://schemas.microsoft.com/office/drawing/2014/main" id="{95A440A8-4724-A557-3FA0-307C10576673}"/>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Fine-Tuning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2E740BB7-74C7-D2CF-85E5-B92ECE04858F}"/>
              </a:ext>
            </a:extLst>
          </p:cNvPr>
          <p:cNvSpPr txBox="1"/>
          <p:nvPr/>
        </p:nvSpPr>
        <p:spPr>
          <a:xfrm>
            <a:off x="636201" y="3975100"/>
            <a:ext cx="13371899" cy="3067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Trains the pre-trained LLM model with our specialized dataset: Helpful, but Limited</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Customization via training</a:t>
            </a:r>
            <a:r>
              <a:rPr lang="en-US" b="1" kern="100" dirty="0">
                <a:solidFill>
                  <a:srgbClr val="FFFFFF"/>
                </a:solidFill>
                <a:effectLst/>
                <a:ea typeface="Calibri" panose="020F0502020204030204" pitchFamily="34" charset="0"/>
                <a:cs typeface="Times New Roman" panose="02020603050405020304" pitchFamily="18" charset="0"/>
              </a:rPr>
              <a:t> </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Expensive, slow iteration</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no access to external systems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no way to take actions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280513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C67FE-B449-4BDA-362A-6CA8618238B6}"/>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D2812CCC-84DE-F275-C2F9-BD061C3B43A5}"/>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dirty="0"/>
          </a:p>
        </p:txBody>
      </p:sp>
      <p:sp>
        <p:nvSpPr>
          <p:cNvPr id="478" name="Insert chapter name">
            <a:extLst>
              <a:ext uri="{FF2B5EF4-FFF2-40B4-BE49-F238E27FC236}">
                <a16:creationId xmlns:a16="http://schemas.microsoft.com/office/drawing/2014/main" id="{75521B98-3FD3-1C46-C7B2-5F763677EC25}"/>
              </a:ext>
            </a:extLst>
          </p:cNvPr>
          <p:cNvSpPr>
            <a:spLocks noGrp="1"/>
          </p:cNvSpPr>
          <p:nvPr>
            <p:ph type="body" sz="quarter" idx="21"/>
          </p:nvPr>
        </p:nvSpPr>
        <p:spPr>
          <a:xfrm>
            <a:off x="609599" y="207804"/>
            <a:ext cx="2755393" cy="405189"/>
          </a:xfrm>
          <a:prstGeom prst="roundRect">
            <a:avLst>
              <a:gd name="adj" fmla="val 50000"/>
            </a:avLst>
          </a:prstGeom>
        </p:spPr>
        <p:txBody>
          <a:bodyPr>
            <a:normAutofit/>
          </a:bodyPr>
          <a:lstStyle/>
          <a:p>
            <a:r>
              <a:rPr lang="en-US" dirty="0"/>
              <a:t>The History That Led to MCP</a:t>
            </a:r>
            <a:endParaRPr dirty="0"/>
          </a:p>
        </p:txBody>
      </p:sp>
      <p:sp>
        <p:nvSpPr>
          <p:cNvPr id="480" name="Insert long title here">
            <a:extLst>
              <a:ext uri="{FF2B5EF4-FFF2-40B4-BE49-F238E27FC236}">
                <a16:creationId xmlns:a16="http://schemas.microsoft.com/office/drawing/2014/main" id="{9E4075BC-DC5D-95E8-71B1-C48175ABD0AC}"/>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RAG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4E720779-8D9F-BAA4-3E79-B1E420E12E23}"/>
              </a:ext>
            </a:extLst>
          </p:cNvPr>
          <p:cNvSpPr txBox="1"/>
          <p:nvPr/>
        </p:nvSpPr>
        <p:spPr>
          <a:xfrm>
            <a:off x="636201" y="3975100"/>
            <a:ext cx="13371899" cy="3067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b="1" dirty="0">
                <a:solidFill>
                  <a:srgbClr val="FFFFFF"/>
                </a:solidFill>
              </a:rPr>
              <a:t>R</a:t>
            </a:r>
            <a:r>
              <a:rPr lang="en-US" dirty="0">
                <a:solidFill>
                  <a:srgbClr val="FFFFFF"/>
                </a:solidFill>
              </a:rPr>
              <a:t>etrieval-</a:t>
            </a:r>
            <a:r>
              <a:rPr lang="en-US" b="1" dirty="0">
                <a:solidFill>
                  <a:srgbClr val="FFFFFF"/>
                </a:solidFill>
              </a:rPr>
              <a:t>A</a:t>
            </a:r>
            <a:r>
              <a:rPr lang="en-US" dirty="0">
                <a:solidFill>
                  <a:srgbClr val="FFFFFF"/>
                </a:solidFill>
              </a:rPr>
              <a:t>ugmented </a:t>
            </a:r>
            <a:r>
              <a:rPr lang="en-US" b="1" dirty="0">
                <a:solidFill>
                  <a:srgbClr val="FFFFFF"/>
                </a:solidFill>
              </a:rPr>
              <a:t>G</a:t>
            </a:r>
            <a:r>
              <a:rPr lang="en-US" dirty="0">
                <a:solidFill>
                  <a:srgbClr val="FFFFFF"/>
                </a:solidFill>
              </a:rPr>
              <a:t>eneration: Giving LLMs Knowledge</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Adds knowledge beyond training</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limited to passive retrieval </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Read-only access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cannot act</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8D27CAC1-0D08-14FF-3DF8-BF0200A739C2}"/>
              </a:ext>
            </a:extLst>
          </p:cNvPr>
          <p:cNvPicPr>
            <a:picLocks noChangeAspect="1"/>
          </p:cNvPicPr>
          <p:nvPr/>
        </p:nvPicPr>
        <p:blipFill>
          <a:blip r:embed="rId3"/>
          <a:stretch>
            <a:fillRect/>
          </a:stretch>
        </p:blipFill>
        <p:spPr>
          <a:xfrm>
            <a:off x="15288768" y="1968487"/>
            <a:ext cx="6752337" cy="10645821"/>
          </a:xfrm>
          <a:prstGeom prst="rect">
            <a:avLst/>
          </a:prstGeom>
        </p:spPr>
      </p:pic>
    </p:spTree>
    <p:extLst>
      <p:ext uri="{BB962C8B-B14F-4D97-AF65-F5344CB8AC3E}">
        <p14:creationId xmlns:p14="http://schemas.microsoft.com/office/powerpoint/2010/main" val="33548343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2D02-5A0C-C2AB-B375-C5F80CAA10D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321959FC-9F80-D48B-2C52-E7A170C5E2A8}"/>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dirty="0"/>
          </a:p>
        </p:txBody>
      </p:sp>
      <p:sp>
        <p:nvSpPr>
          <p:cNvPr id="478" name="Insert chapter name">
            <a:extLst>
              <a:ext uri="{FF2B5EF4-FFF2-40B4-BE49-F238E27FC236}">
                <a16:creationId xmlns:a16="http://schemas.microsoft.com/office/drawing/2014/main" id="{EE46F235-6736-67B1-FAAF-5DCDC9BCF53C}"/>
              </a:ext>
            </a:extLst>
          </p:cNvPr>
          <p:cNvSpPr>
            <a:spLocks noGrp="1"/>
          </p:cNvSpPr>
          <p:nvPr>
            <p:ph type="body" sz="quarter" idx="21"/>
          </p:nvPr>
        </p:nvSpPr>
        <p:spPr>
          <a:xfrm>
            <a:off x="609599" y="207804"/>
            <a:ext cx="2755393" cy="405189"/>
          </a:xfrm>
          <a:prstGeom prst="roundRect">
            <a:avLst>
              <a:gd name="adj" fmla="val 50000"/>
            </a:avLst>
          </a:prstGeom>
        </p:spPr>
        <p:txBody>
          <a:bodyPr>
            <a:normAutofit/>
          </a:bodyPr>
          <a:lstStyle/>
          <a:p>
            <a:r>
              <a:rPr lang="en-US" dirty="0"/>
              <a:t>The History That Led to MCP</a:t>
            </a:r>
            <a:endParaRPr dirty="0"/>
          </a:p>
        </p:txBody>
      </p:sp>
      <p:sp>
        <p:nvSpPr>
          <p:cNvPr id="480" name="Insert long title here">
            <a:extLst>
              <a:ext uri="{FF2B5EF4-FFF2-40B4-BE49-F238E27FC236}">
                <a16:creationId xmlns:a16="http://schemas.microsoft.com/office/drawing/2014/main" id="{68F6B755-5103-0E64-7138-3A084FED0666}"/>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Tool Use / Function Calling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56E04F94-D515-F330-6BFC-8E42C93F00F3}"/>
              </a:ext>
            </a:extLst>
          </p:cNvPr>
          <p:cNvSpPr txBox="1"/>
          <p:nvPr/>
        </p:nvSpPr>
        <p:spPr>
          <a:xfrm>
            <a:off x="636201" y="3975100"/>
            <a:ext cx="13371899" cy="3067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LLMs Begin Taking Actions</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LLMs call functions/tools via JSON schemas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Enabled real actions (APIs, DB calls, file ops)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But… every system defined tools differently</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standard, no permissions, no portability</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D61E230-7E24-C20A-AF5D-14D60E0FDC00}"/>
              </a:ext>
            </a:extLst>
          </p:cNvPr>
          <p:cNvPicPr>
            <a:picLocks noChangeAspect="1"/>
          </p:cNvPicPr>
          <p:nvPr/>
        </p:nvPicPr>
        <p:blipFill>
          <a:blip r:embed="rId3"/>
          <a:stretch>
            <a:fillRect/>
          </a:stretch>
        </p:blipFill>
        <p:spPr>
          <a:xfrm>
            <a:off x="14892251" y="4497745"/>
            <a:ext cx="6852181" cy="5089721"/>
          </a:xfrm>
          <a:prstGeom prst="rect">
            <a:avLst/>
          </a:prstGeom>
        </p:spPr>
      </p:pic>
    </p:spTree>
    <p:extLst>
      <p:ext uri="{BB962C8B-B14F-4D97-AF65-F5344CB8AC3E}">
        <p14:creationId xmlns:p14="http://schemas.microsoft.com/office/powerpoint/2010/main" val="352388350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2FAAD-8032-E9EF-E427-8E2002CEFDF9}"/>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468DDB0B-CF9A-FB74-9652-83440DE550A6}"/>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dirty="0"/>
          </a:p>
        </p:txBody>
      </p:sp>
      <p:sp>
        <p:nvSpPr>
          <p:cNvPr id="478" name="Insert chapter name">
            <a:extLst>
              <a:ext uri="{FF2B5EF4-FFF2-40B4-BE49-F238E27FC236}">
                <a16:creationId xmlns:a16="http://schemas.microsoft.com/office/drawing/2014/main" id="{C6A02113-26B0-ABF4-5C13-E872BBB013B7}"/>
              </a:ext>
            </a:extLst>
          </p:cNvPr>
          <p:cNvSpPr>
            <a:spLocks noGrp="1"/>
          </p:cNvSpPr>
          <p:nvPr>
            <p:ph type="body" sz="quarter" idx="21"/>
          </p:nvPr>
        </p:nvSpPr>
        <p:spPr>
          <a:xfrm>
            <a:off x="609599" y="207804"/>
            <a:ext cx="2755393" cy="405189"/>
          </a:xfrm>
          <a:prstGeom prst="roundRect">
            <a:avLst>
              <a:gd name="adj" fmla="val 50000"/>
            </a:avLst>
          </a:prstGeom>
        </p:spPr>
        <p:txBody>
          <a:bodyPr>
            <a:normAutofit/>
          </a:bodyPr>
          <a:lstStyle/>
          <a:p>
            <a:r>
              <a:rPr lang="en-US" dirty="0"/>
              <a:t>The History That Led to MCP</a:t>
            </a:r>
            <a:endParaRPr dirty="0"/>
          </a:p>
        </p:txBody>
      </p:sp>
      <p:sp>
        <p:nvSpPr>
          <p:cNvPr id="480" name="Insert long title here">
            <a:extLst>
              <a:ext uri="{FF2B5EF4-FFF2-40B4-BE49-F238E27FC236}">
                <a16:creationId xmlns:a16="http://schemas.microsoft.com/office/drawing/2014/main" id="{8885AE7A-E785-77F6-C279-F05A4CB20D2A}"/>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Agents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91D3AB2D-A113-A38C-02B3-3961DD59523B}"/>
              </a:ext>
            </a:extLst>
          </p:cNvPr>
          <p:cNvSpPr txBox="1"/>
          <p:nvPr/>
        </p:nvSpPr>
        <p:spPr>
          <a:xfrm>
            <a:off x="636201" y="3975100"/>
            <a:ext cx="13371899" cy="41755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Reasoning + Tools</a:t>
            </a:r>
            <a:br>
              <a:rPr lang="en-US" dirty="0">
                <a:solidFill>
                  <a:srgbClr val="FFFFFF"/>
                </a:solidFill>
              </a:rPr>
            </a:br>
            <a:r>
              <a:rPr lang="en-US" dirty="0">
                <a:solidFill>
                  <a:srgbClr val="FFFFFF"/>
                </a:solidFill>
              </a:rPr>
              <a:t>Systems where large language models (LLMs) dynamically direct their</a:t>
            </a:r>
            <a:br>
              <a:rPr lang="en-US" dirty="0">
                <a:solidFill>
                  <a:srgbClr val="FFFFFF"/>
                </a:solidFill>
              </a:rPr>
            </a:br>
            <a:r>
              <a:rPr lang="en-US" dirty="0">
                <a:solidFill>
                  <a:srgbClr val="FFFFFF"/>
                </a:solidFill>
              </a:rPr>
              <a:t>own processes and tool usage, maintaining control over how they accomplish tasks</a:t>
            </a:r>
            <a:br>
              <a:rPr lang="en-US" dirty="0">
                <a:solidFill>
                  <a:srgbClr val="FFFFFF"/>
                </a:solidFill>
              </a:rPr>
            </a:br>
            <a:r>
              <a:rPr lang="en-US" dirty="0">
                <a:solidFill>
                  <a:srgbClr val="FFFFFF"/>
                </a:solidFill>
                <a:hlinkClick r:id="rId3"/>
              </a:rPr>
              <a:t>https://www.anthropic.com/engineering/building-effective-agents</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Multi-step decision-making</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Chains of tool calls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Increased power = increased integration chaos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Every tool → custom integration (tools lacked standards)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pic>
        <p:nvPicPr>
          <p:cNvPr id="4" name="Picture 3" descr="A diagram of a agent&#10;&#10;AI-generated content may be incorrect.">
            <a:extLst>
              <a:ext uri="{FF2B5EF4-FFF2-40B4-BE49-F238E27FC236}">
                <a16:creationId xmlns:a16="http://schemas.microsoft.com/office/drawing/2014/main" id="{C094005E-E381-3654-745F-67330A203393}"/>
              </a:ext>
            </a:extLst>
          </p:cNvPr>
          <p:cNvPicPr>
            <a:picLocks noChangeAspect="1"/>
          </p:cNvPicPr>
          <p:nvPr/>
        </p:nvPicPr>
        <p:blipFill>
          <a:blip r:embed="rId4"/>
          <a:stretch>
            <a:fillRect/>
          </a:stretch>
        </p:blipFill>
        <p:spPr>
          <a:xfrm>
            <a:off x="11604131" y="4147751"/>
            <a:ext cx="12029542" cy="5420497"/>
          </a:xfrm>
          <a:prstGeom prst="rect">
            <a:avLst/>
          </a:prstGeom>
        </p:spPr>
      </p:pic>
      <p:pic>
        <p:nvPicPr>
          <p:cNvPr id="5" name="Picture 4" descr="A diagram of a computer process&#10;&#10;AI-generated content may be incorrect.">
            <a:extLst>
              <a:ext uri="{FF2B5EF4-FFF2-40B4-BE49-F238E27FC236}">
                <a16:creationId xmlns:a16="http://schemas.microsoft.com/office/drawing/2014/main" id="{F7E5FDB6-C764-52B6-3019-14D9E7178654}"/>
              </a:ext>
            </a:extLst>
          </p:cNvPr>
          <p:cNvPicPr>
            <a:picLocks noChangeAspect="1"/>
          </p:cNvPicPr>
          <p:nvPr/>
        </p:nvPicPr>
        <p:blipFill>
          <a:blip r:embed="rId5"/>
          <a:stretch>
            <a:fillRect/>
          </a:stretch>
        </p:blipFill>
        <p:spPr>
          <a:xfrm>
            <a:off x="1998335" y="8407373"/>
            <a:ext cx="8243662" cy="4581574"/>
          </a:xfrm>
          <a:prstGeom prst="rect">
            <a:avLst/>
          </a:prstGeom>
        </p:spPr>
      </p:pic>
    </p:spTree>
    <p:extLst>
      <p:ext uri="{BB962C8B-B14F-4D97-AF65-F5344CB8AC3E}">
        <p14:creationId xmlns:p14="http://schemas.microsoft.com/office/powerpoint/2010/main" val="162197948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6A7A-1450-9453-4FEC-A5BE74FE8E6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1BA3B7E7-897C-0F69-2DB1-2D6ABD676867}"/>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dirty="0"/>
          </a:p>
        </p:txBody>
      </p:sp>
      <p:sp>
        <p:nvSpPr>
          <p:cNvPr id="478" name="Insert chapter name">
            <a:extLst>
              <a:ext uri="{FF2B5EF4-FFF2-40B4-BE49-F238E27FC236}">
                <a16:creationId xmlns:a16="http://schemas.microsoft.com/office/drawing/2014/main" id="{B1E3A6CB-8E87-0F7A-DF4A-F5E296D22E36}"/>
              </a:ext>
            </a:extLst>
          </p:cNvPr>
          <p:cNvSpPr>
            <a:spLocks noGrp="1"/>
          </p:cNvSpPr>
          <p:nvPr>
            <p:ph type="body" sz="quarter" idx="21"/>
          </p:nvPr>
        </p:nvSpPr>
        <p:spPr>
          <a:xfrm>
            <a:off x="609599" y="207804"/>
            <a:ext cx="2755393" cy="405189"/>
          </a:xfrm>
          <a:prstGeom prst="roundRect">
            <a:avLst>
              <a:gd name="adj" fmla="val 50000"/>
            </a:avLst>
          </a:prstGeom>
        </p:spPr>
        <p:txBody>
          <a:bodyPr>
            <a:normAutofit/>
          </a:bodyPr>
          <a:lstStyle/>
          <a:p>
            <a:r>
              <a:rPr lang="en-US" dirty="0"/>
              <a:t>The History That Led to MCP</a:t>
            </a:r>
            <a:endParaRPr dirty="0"/>
          </a:p>
        </p:txBody>
      </p:sp>
      <p:sp>
        <p:nvSpPr>
          <p:cNvPr id="480" name="Insert long title here">
            <a:extLst>
              <a:ext uri="{FF2B5EF4-FFF2-40B4-BE49-F238E27FC236}">
                <a16:creationId xmlns:a16="http://schemas.microsoft.com/office/drawing/2014/main" id="{20203224-94D1-5970-4088-6D58A79C5B94}"/>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The Problem</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476B5E9E-5C7C-20FC-ECC5-9185248F68ED}"/>
              </a:ext>
            </a:extLst>
          </p:cNvPr>
          <p:cNvSpPr txBox="1"/>
          <p:nvPr/>
        </p:nvSpPr>
        <p:spPr>
          <a:xfrm>
            <a:off x="636201" y="3975100"/>
            <a:ext cx="13371899" cy="3067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The Integration Mess</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No shared protocol for tools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standard permissions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Hard to build, hard to secure</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Hard to reuse tools across platforms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1660039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C5DAC-72BA-C2AD-B91B-358924F50302}"/>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836ABFE6-6DB2-EEEA-0A9C-21E8D1B314FA}"/>
              </a:ext>
            </a:extLst>
          </p:cNvPr>
          <p:cNvSpPr txBox="1">
            <a:spLocks noGrp="1"/>
          </p:cNvSpPr>
          <p:nvPr>
            <p:ph type="title"/>
          </p:nvPr>
        </p:nvSpPr>
        <p:spPr>
          <a:prstGeom prst="rect">
            <a:avLst/>
          </a:prstGeom>
        </p:spPr>
        <p:txBody>
          <a:bodyPr/>
          <a:lstStyle/>
          <a:p>
            <a:r>
              <a:rPr lang="en-US" dirty="0"/>
              <a:t>Why MCP</a:t>
            </a:r>
            <a:endParaRPr dirty="0"/>
          </a:p>
        </p:txBody>
      </p:sp>
      <p:sp>
        <p:nvSpPr>
          <p:cNvPr id="254" name="01">
            <a:extLst>
              <a:ext uri="{FF2B5EF4-FFF2-40B4-BE49-F238E27FC236}">
                <a16:creationId xmlns:a16="http://schemas.microsoft.com/office/drawing/2014/main" id="{5FED3C26-46F3-6872-649E-96DADA0A56A8}"/>
              </a:ext>
            </a:extLst>
          </p:cNvPr>
          <p:cNvSpPr txBox="1">
            <a:spLocks noGrp="1"/>
          </p:cNvSpPr>
          <p:nvPr>
            <p:ph type="body" sz="quarter" idx="21"/>
          </p:nvPr>
        </p:nvSpPr>
        <p:spPr>
          <a:prstGeom prst="rect">
            <a:avLst/>
          </a:prstGeom>
        </p:spPr>
        <p:txBody>
          <a:bodyPr/>
          <a:lstStyle/>
          <a:p>
            <a:r>
              <a:rPr dirty="0"/>
              <a:t>02</a:t>
            </a:r>
          </a:p>
        </p:txBody>
      </p:sp>
    </p:spTree>
    <p:extLst>
      <p:ext uri="{BB962C8B-B14F-4D97-AF65-F5344CB8AC3E}">
        <p14:creationId xmlns:p14="http://schemas.microsoft.com/office/powerpoint/2010/main" val="79964900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E44A7-D6DB-BB1A-D91A-A7202D99632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7A207CC9-FEA7-DB0D-4757-F9892EDCF8EE}"/>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dirty="0"/>
          </a:p>
        </p:txBody>
      </p:sp>
      <p:sp>
        <p:nvSpPr>
          <p:cNvPr id="478" name="Insert chapter name">
            <a:extLst>
              <a:ext uri="{FF2B5EF4-FFF2-40B4-BE49-F238E27FC236}">
                <a16:creationId xmlns:a16="http://schemas.microsoft.com/office/drawing/2014/main" id="{746EC3EE-0509-0CA4-8067-107E203C0525}"/>
              </a:ext>
            </a:extLst>
          </p:cNvPr>
          <p:cNvSpPr>
            <a:spLocks noGrp="1"/>
          </p:cNvSpPr>
          <p:nvPr>
            <p:ph type="body" sz="quarter" idx="21"/>
          </p:nvPr>
        </p:nvSpPr>
        <p:spPr>
          <a:xfrm>
            <a:off x="609599" y="207805"/>
            <a:ext cx="1182625" cy="395700"/>
          </a:xfrm>
          <a:prstGeom prst="roundRect">
            <a:avLst>
              <a:gd name="adj" fmla="val 50000"/>
            </a:avLst>
          </a:prstGeom>
        </p:spPr>
        <p:txBody>
          <a:bodyPr>
            <a:normAutofit lnSpcReduction="10000"/>
          </a:bodyPr>
          <a:lstStyle/>
          <a:p>
            <a:r>
              <a:rPr lang="en-US" dirty="0"/>
              <a:t>Why MCP</a:t>
            </a:r>
            <a:endParaRPr dirty="0"/>
          </a:p>
        </p:txBody>
      </p:sp>
      <p:sp>
        <p:nvSpPr>
          <p:cNvPr id="480" name="Insert long title here">
            <a:extLst>
              <a:ext uri="{FF2B5EF4-FFF2-40B4-BE49-F238E27FC236}">
                <a16:creationId xmlns:a16="http://schemas.microsoft.com/office/drawing/2014/main" id="{1EB18BF5-A15A-E26E-3E6E-329215109683}"/>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Why MCP Exists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528D1139-97D5-A0C4-6DF4-F6C77E93E824}"/>
              </a:ext>
            </a:extLst>
          </p:cNvPr>
          <p:cNvSpPr txBox="1"/>
          <p:nvPr/>
        </p:nvSpPr>
        <p:spPr>
          <a:xfrm>
            <a:off x="636201" y="3975100"/>
            <a:ext cx="13371899" cy="45602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b="1" dirty="0">
                <a:solidFill>
                  <a:srgbClr val="FFFFFF"/>
                </a:solidFill>
              </a:rPr>
              <a:t>M</a:t>
            </a:r>
            <a:r>
              <a:rPr lang="en-US" dirty="0">
                <a:solidFill>
                  <a:srgbClr val="FFFFFF"/>
                </a:solidFill>
              </a:rPr>
              <a:t>odel </a:t>
            </a:r>
            <a:r>
              <a:rPr lang="en-US" b="1" dirty="0">
                <a:solidFill>
                  <a:srgbClr val="FFFFFF"/>
                </a:solidFill>
              </a:rPr>
              <a:t>C</a:t>
            </a:r>
            <a:r>
              <a:rPr lang="en-US" dirty="0">
                <a:solidFill>
                  <a:srgbClr val="FFFFFF"/>
                </a:solidFill>
              </a:rPr>
              <a:t>ontext </a:t>
            </a:r>
            <a:r>
              <a:rPr lang="en-US" b="1" dirty="0">
                <a:solidFill>
                  <a:srgbClr val="FFFFFF"/>
                </a:solidFill>
              </a:rPr>
              <a:t>P</a:t>
            </a:r>
            <a:r>
              <a:rPr lang="en-US" dirty="0">
                <a:solidFill>
                  <a:srgbClr val="FFFFFF"/>
                </a:solidFill>
              </a:rPr>
              <a:t>rotocol: A Standard for Agent–Tool Interaction</a:t>
            </a:r>
            <a:br>
              <a:rPr lang="en-US" dirty="0">
                <a:solidFill>
                  <a:srgbClr val="FFFFFF"/>
                </a:solidFill>
              </a:rPr>
            </a:br>
            <a:r>
              <a:rPr lang="en-US" dirty="0">
                <a:solidFill>
                  <a:srgbClr val="FFFFFF"/>
                </a:solidFill>
              </a:rPr>
              <a:t>Created by Anthropic: </a:t>
            </a:r>
            <a:r>
              <a:rPr lang="en-US" dirty="0">
                <a:solidFill>
                  <a:srgbClr val="FFFFFF"/>
                </a:solidFill>
                <a:hlinkClick r:id="rId3"/>
              </a:rPr>
              <a:t>https://www.anthropic.com/news/model-context-protocol</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Uniform protocol for tools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Strong permission + security model</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Works locally or remotely</a:t>
            </a:r>
          </a:p>
          <a:p>
            <a:pPr marL="36000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Clear access control</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Designed for LLMs and agents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Portable integrations (one server, many clients)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346243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2989-CCBD-4C06-A959-2EC1824B6A63}"/>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805359FE-46E9-A8D2-FC4B-B923E401FDC0}"/>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13</a:t>
            </a:fld>
            <a:endParaRPr dirty="0"/>
          </a:p>
        </p:txBody>
      </p:sp>
      <p:sp>
        <p:nvSpPr>
          <p:cNvPr id="480" name="Insert long title here">
            <a:extLst>
              <a:ext uri="{FF2B5EF4-FFF2-40B4-BE49-F238E27FC236}">
                <a16:creationId xmlns:a16="http://schemas.microsoft.com/office/drawing/2014/main" id="{3E10A34D-A06C-B609-3B50-5F48E5B57F61}"/>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MCP Architecture</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EE5DB6AD-C688-6741-055C-ED828BD280D6}"/>
              </a:ext>
            </a:extLst>
          </p:cNvPr>
          <p:cNvSpPr txBox="1"/>
          <p:nvPr/>
        </p:nvSpPr>
        <p:spPr>
          <a:xfrm>
            <a:off x="636201" y="3975100"/>
            <a:ext cx="13371899" cy="19441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The MCP Model</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Servers expose tools, resources, prompts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Clients (LLMs/Agents) interact over a shared protocol</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pic>
        <p:nvPicPr>
          <p:cNvPr id="4" name="Picture 3" descr="A diagram of a standardized security system&#10;&#10;AI-generated content may be incorrect.">
            <a:extLst>
              <a:ext uri="{FF2B5EF4-FFF2-40B4-BE49-F238E27FC236}">
                <a16:creationId xmlns:a16="http://schemas.microsoft.com/office/drawing/2014/main" id="{E420A405-14A6-9DC7-A819-44859AD84C37}"/>
              </a:ext>
            </a:extLst>
          </p:cNvPr>
          <p:cNvPicPr>
            <a:picLocks noChangeAspect="1"/>
          </p:cNvPicPr>
          <p:nvPr/>
        </p:nvPicPr>
        <p:blipFill>
          <a:blip r:embed="rId3"/>
          <a:stretch>
            <a:fillRect/>
          </a:stretch>
        </p:blipFill>
        <p:spPr>
          <a:xfrm>
            <a:off x="3526640" y="6434937"/>
            <a:ext cx="17321680" cy="5711053"/>
          </a:xfrm>
          <a:prstGeom prst="rect">
            <a:avLst/>
          </a:prstGeom>
        </p:spPr>
      </p:pic>
      <p:sp>
        <p:nvSpPr>
          <p:cNvPr id="7" name="Insert chapter name">
            <a:extLst>
              <a:ext uri="{FF2B5EF4-FFF2-40B4-BE49-F238E27FC236}">
                <a16:creationId xmlns:a16="http://schemas.microsoft.com/office/drawing/2014/main" id="{919D7AE3-ABCC-4B1A-1E64-D16D8C1ADC1F}"/>
              </a:ext>
            </a:extLst>
          </p:cNvPr>
          <p:cNvSpPr>
            <a:spLocks noGrp="1"/>
          </p:cNvSpPr>
          <p:nvPr>
            <p:ph type="body" sz="quarter" idx="21"/>
          </p:nvPr>
        </p:nvSpPr>
        <p:spPr>
          <a:xfrm>
            <a:off x="609599" y="207805"/>
            <a:ext cx="1182625" cy="395700"/>
          </a:xfrm>
          <a:prstGeom prst="roundRect">
            <a:avLst>
              <a:gd name="adj" fmla="val 50000"/>
            </a:avLst>
          </a:prstGeom>
        </p:spPr>
        <p:txBody>
          <a:bodyPr>
            <a:normAutofit lnSpcReduction="10000"/>
          </a:bodyPr>
          <a:lstStyle/>
          <a:p>
            <a:r>
              <a:rPr lang="en-US" dirty="0"/>
              <a:t>Why MCP</a:t>
            </a:r>
            <a:endParaRPr dirty="0"/>
          </a:p>
        </p:txBody>
      </p:sp>
    </p:spTree>
    <p:extLst>
      <p:ext uri="{BB962C8B-B14F-4D97-AF65-F5344CB8AC3E}">
        <p14:creationId xmlns:p14="http://schemas.microsoft.com/office/powerpoint/2010/main" val="47026455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1856D-6A5D-11D3-772F-89E33F093156}"/>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FA184449-63D6-BEE0-02AF-0D4408C79D31}"/>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dirty="0"/>
          </a:p>
        </p:txBody>
      </p:sp>
      <p:sp>
        <p:nvSpPr>
          <p:cNvPr id="480" name="Insert long title here">
            <a:extLst>
              <a:ext uri="{FF2B5EF4-FFF2-40B4-BE49-F238E27FC236}">
                <a16:creationId xmlns:a16="http://schemas.microsoft.com/office/drawing/2014/main" id="{16F4FA20-5BD9-F06A-6837-384552D91C95}"/>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MCP in Practice</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A2DB5377-57D4-A00D-82E0-64AFAAA3DB30}"/>
              </a:ext>
            </a:extLst>
          </p:cNvPr>
          <p:cNvSpPr txBox="1"/>
          <p:nvPr/>
        </p:nvSpPr>
        <p:spPr>
          <a:xfrm>
            <a:off x="636201" y="3975100"/>
            <a:ext cx="13371899" cy="25058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How MCP Changes Development</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Build once → use across platforms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Safe control of system resources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Makes apps "AI-ready"</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2B5E23BD-E1D3-1CC0-543F-83C7CED3AF90}"/>
              </a:ext>
            </a:extLst>
          </p:cNvPr>
          <p:cNvSpPr>
            <a:spLocks noGrp="1"/>
          </p:cNvSpPr>
          <p:nvPr>
            <p:ph type="body" sz="quarter" idx="21"/>
          </p:nvPr>
        </p:nvSpPr>
        <p:spPr>
          <a:xfrm>
            <a:off x="609599" y="207805"/>
            <a:ext cx="1182625" cy="395700"/>
          </a:xfrm>
          <a:prstGeom prst="roundRect">
            <a:avLst>
              <a:gd name="adj" fmla="val 50000"/>
            </a:avLst>
          </a:prstGeom>
        </p:spPr>
        <p:txBody>
          <a:bodyPr>
            <a:normAutofit lnSpcReduction="10000"/>
          </a:bodyPr>
          <a:lstStyle/>
          <a:p>
            <a:r>
              <a:rPr lang="en-US" dirty="0"/>
              <a:t>Why MCP</a:t>
            </a:r>
            <a:endParaRPr dirty="0"/>
          </a:p>
        </p:txBody>
      </p:sp>
    </p:spTree>
    <p:extLst>
      <p:ext uri="{BB962C8B-B14F-4D97-AF65-F5344CB8AC3E}">
        <p14:creationId xmlns:p14="http://schemas.microsoft.com/office/powerpoint/2010/main" val="150588058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B572-5CC3-51BB-E368-45874BB4BD83}"/>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70A53723-05BA-16DE-718F-3B4BE4780E19}"/>
              </a:ext>
            </a:extLst>
          </p:cNvPr>
          <p:cNvSpPr txBox="1">
            <a:spLocks noGrp="1"/>
          </p:cNvSpPr>
          <p:nvPr>
            <p:ph type="title"/>
          </p:nvPr>
        </p:nvSpPr>
        <p:spPr>
          <a:prstGeom prst="rect">
            <a:avLst/>
          </a:prstGeom>
        </p:spPr>
        <p:txBody>
          <a:bodyPr/>
          <a:lstStyle/>
          <a:p>
            <a:r>
              <a:rPr lang="en-US" dirty="0"/>
              <a:t>Demo</a:t>
            </a:r>
            <a:endParaRPr dirty="0"/>
          </a:p>
        </p:txBody>
      </p:sp>
      <p:sp>
        <p:nvSpPr>
          <p:cNvPr id="254" name="01">
            <a:extLst>
              <a:ext uri="{FF2B5EF4-FFF2-40B4-BE49-F238E27FC236}">
                <a16:creationId xmlns:a16="http://schemas.microsoft.com/office/drawing/2014/main" id="{C4D833CE-51F2-71B9-84DA-AC8029763344}"/>
              </a:ext>
            </a:extLst>
          </p:cNvPr>
          <p:cNvSpPr txBox="1">
            <a:spLocks noGrp="1"/>
          </p:cNvSpPr>
          <p:nvPr>
            <p:ph type="body" sz="quarter" idx="21"/>
          </p:nvPr>
        </p:nvSpPr>
        <p:spPr>
          <a:prstGeom prst="rect">
            <a:avLst/>
          </a:prstGeom>
        </p:spPr>
        <p:txBody>
          <a:bodyPr/>
          <a:lstStyle/>
          <a:p>
            <a:r>
              <a:rPr dirty="0"/>
              <a:t>03</a:t>
            </a:r>
          </a:p>
        </p:txBody>
      </p:sp>
    </p:spTree>
    <p:extLst>
      <p:ext uri="{BB962C8B-B14F-4D97-AF65-F5344CB8AC3E}">
        <p14:creationId xmlns:p14="http://schemas.microsoft.com/office/powerpoint/2010/main" val="110543532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66417-1E68-D09A-A0B9-AC5A8401784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3C9DD17D-C051-523F-2D61-FEC04B4C87F2}"/>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16</a:t>
            </a:fld>
            <a:endParaRPr dirty="0"/>
          </a:p>
        </p:txBody>
      </p:sp>
      <p:sp>
        <p:nvSpPr>
          <p:cNvPr id="480" name="Insert long title here">
            <a:extLst>
              <a:ext uri="{FF2B5EF4-FFF2-40B4-BE49-F238E27FC236}">
                <a16:creationId xmlns:a16="http://schemas.microsoft.com/office/drawing/2014/main" id="{9105CBB0-5BD3-54EB-4552-28BBBE15030A}"/>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Demo 1</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C3A7CEDB-7E5A-BFF2-A287-567C7CE235D1}"/>
              </a:ext>
            </a:extLst>
          </p:cNvPr>
          <p:cNvSpPr txBox="1"/>
          <p:nvPr/>
        </p:nvSpPr>
        <p:spPr>
          <a:xfrm>
            <a:off x="636201" y="3975100"/>
            <a:ext cx="13371899" cy="36291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Using an Existing Node.js MCP Server</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Walkthrough Clude Desktop</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MCP Server config JSON file</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Import </a:t>
            </a:r>
            <a:r>
              <a:rPr lang="en-US" b="1" kern="100" dirty="0" err="1">
                <a:solidFill>
                  <a:srgbClr val="FFFFFF"/>
                </a:solidFill>
                <a:ea typeface="Calibri" panose="020F0502020204030204" pitchFamily="34" charset="0"/>
                <a:cs typeface="Times New Roman" panose="02020603050405020304" pitchFamily="18" charset="0"/>
              </a:rPr>
              <a:t>AirBnb</a:t>
            </a:r>
            <a:r>
              <a:rPr lang="en-US" b="1" kern="100" dirty="0">
                <a:solidFill>
                  <a:srgbClr val="FFFFFF"/>
                </a:solidFill>
                <a:ea typeface="Calibri" panose="020F0502020204030204" pitchFamily="34" charset="0"/>
                <a:cs typeface="Times New Roman" panose="02020603050405020304" pitchFamily="18" charset="0"/>
              </a:rPr>
              <a:t> MCP server</a:t>
            </a:r>
          </a:p>
          <a:p>
            <a:pPr marL="360000" lvl="0" indent="-360000">
              <a:buClr>
                <a:srgbClr val="FF4230"/>
              </a:buClr>
              <a:buFont typeface="Arial" panose="020B0604020202020204" pitchFamily="34" charset="0"/>
              <a:buChar char="•"/>
              <a:tabLst>
                <a:tab pos="457200" algn="l"/>
              </a:tabLst>
            </a:pPr>
            <a:r>
              <a:rPr lang="en-US" b="1" kern="100" dirty="0">
                <a:solidFill>
                  <a:srgbClr val="FFFFFF"/>
                </a:solidFill>
                <a:ea typeface="Calibri" panose="020F0502020204030204" pitchFamily="34" charset="0"/>
                <a:cs typeface="Times New Roman" panose="02020603050405020304" pitchFamily="18" charset="0"/>
              </a:rPr>
              <a:t>All available MCP servers: </a:t>
            </a:r>
            <a:r>
              <a:rPr lang="en-US" b="1" kern="100" dirty="0">
                <a:solidFill>
                  <a:srgbClr val="FFFFFF"/>
                </a:solidFill>
                <a:ea typeface="Calibri" panose="020F0502020204030204" pitchFamily="34" charset="0"/>
                <a:cs typeface="Times New Roman" panose="02020603050405020304" pitchFamily="18" charset="0"/>
                <a:hlinkClick r:id="rId3"/>
              </a:rPr>
              <a:t>https://github.com/modelcontextprotocol/servers</a:t>
            </a:r>
            <a:endParaRPr lang="en-US" b="1"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b="1" kern="100" dirty="0" err="1">
                <a:solidFill>
                  <a:srgbClr val="FFFFFF"/>
                </a:solidFill>
                <a:ea typeface="Calibri" panose="020F0502020204030204" pitchFamily="34" charset="0"/>
                <a:cs typeface="Times New Roman" panose="02020603050405020304" pitchFamily="18" charset="0"/>
              </a:rPr>
              <a:t>AirBnb</a:t>
            </a:r>
            <a:r>
              <a:rPr lang="en-US" b="1" kern="100" dirty="0">
                <a:solidFill>
                  <a:srgbClr val="FFFFFF"/>
                </a:solidFill>
                <a:ea typeface="Calibri" panose="020F0502020204030204" pitchFamily="34" charset="0"/>
                <a:cs typeface="Times New Roman" panose="02020603050405020304" pitchFamily="18" charset="0"/>
              </a:rPr>
              <a:t> MCP server:  </a:t>
            </a:r>
            <a:r>
              <a:rPr lang="en-US" b="1" kern="100" dirty="0">
                <a:solidFill>
                  <a:srgbClr val="FFFFFF"/>
                </a:solidFill>
                <a:ea typeface="Calibri" panose="020F0502020204030204" pitchFamily="34" charset="0"/>
                <a:cs typeface="Times New Roman" panose="02020603050405020304" pitchFamily="18" charset="0"/>
                <a:hlinkClick r:id="rId4"/>
              </a:rPr>
              <a:t>https://github.com/openbnb-org/mcp-server-airbnb</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C1303EB8-A88E-F1AC-E445-6F46507CEBB9}"/>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7589822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A6816-17FD-0D58-88B2-6C6997CBAF1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96D3D9C8-CA4D-BB2D-C6D1-569ABC005059}"/>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dirty="0"/>
          </a:p>
        </p:txBody>
      </p:sp>
      <p:sp>
        <p:nvSpPr>
          <p:cNvPr id="480" name="Insert long title here">
            <a:extLst>
              <a:ext uri="{FF2B5EF4-FFF2-40B4-BE49-F238E27FC236}">
                <a16:creationId xmlns:a16="http://schemas.microsoft.com/office/drawing/2014/main" id="{F77794AE-54EF-860D-6504-C2E0DF389634}"/>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Demo 2</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CE360573-932E-C7A2-CFF0-7E042DCDFE26}"/>
              </a:ext>
            </a:extLst>
          </p:cNvPr>
          <p:cNvSpPr txBox="1"/>
          <p:nvPr/>
        </p:nvSpPr>
        <p:spPr>
          <a:xfrm>
            <a:off x="636201" y="3975100"/>
            <a:ext cx="13371899" cy="3998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Create a simple .NET MCP server that shows the local machine time</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Code walkthrough</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Install </a:t>
            </a:r>
            <a:r>
              <a:rPr lang="en-US" b="1" kern="100" dirty="0" err="1">
                <a:solidFill>
                  <a:srgbClr val="FFFFFF"/>
                </a:solidFill>
                <a:ea typeface="Calibri" panose="020F0502020204030204" pitchFamily="34" charset="0"/>
                <a:cs typeface="Times New Roman" panose="02020603050405020304" pitchFamily="18" charset="0"/>
              </a:rPr>
              <a:t>Microsoft.Extensions.AI.Templates</a:t>
            </a:r>
            <a:r>
              <a:rPr lang="en-US" b="1" kern="100" dirty="0">
                <a:solidFill>
                  <a:srgbClr val="FFFFFF"/>
                </a:solidFill>
                <a:ea typeface="Calibri" panose="020F0502020204030204" pitchFamily="34" charset="0"/>
                <a:cs typeface="Times New Roman" panose="02020603050405020304" pitchFamily="18" charset="0"/>
              </a:rPr>
              <a:t> template : </a:t>
            </a:r>
            <a:r>
              <a:rPr lang="en-US" b="1" kern="100" dirty="0">
                <a:solidFill>
                  <a:srgbClr val="FFFFFF"/>
                </a:solidFill>
                <a:ea typeface="Calibri" panose="020F0502020204030204" pitchFamily="34" charset="0"/>
                <a:cs typeface="Times New Roman" panose="02020603050405020304" pitchFamily="18" charset="0"/>
                <a:hlinkClick r:id="rId3"/>
              </a:rPr>
              <a:t>https://learn.microsoft.com/en-us/dotnet/ai/quickstarts/build-mcp-server</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Show the template in the Visual Studio</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MCP Server config JSON file – dotnet command</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Import </a:t>
            </a:r>
            <a:r>
              <a:rPr lang="en-US" b="1" kern="100" dirty="0" err="1">
                <a:solidFill>
                  <a:srgbClr val="FFFFFF"/>
                </a:solidFill>
                <a:ea typeface="Calibri" panose="020F0502020204030204" pitchFamily="34" charset="0"/>
                <a:cs typeface="Times New Roman" panose="02020603050405020304" pitchFamily="18" charset="0"/>
              </a:rPr>
              <a:t>LocalTime</a:t>
            </a:r>
            <a:r>
              <a:rPr lang="en-US" b="1" kern="100" dirty="0">
                <a:solidFill>
                  <a:srgbClr val="FFFFFF"/>
                </a:solidFill>
                <a:ea typeface="Calibri" panose="020F0502020204030204" pitchFamily="34" charset="0"/>
                <a:cs typeface="Times New Roman" panose="02020603050405020304" pitchFamily="18" charset="0"/>
              </a:rPr>
              <a:t> MCP server</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348DEB80-A8AF-0986-3E5B-296C7672713B}"/>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393227363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9D9EC-0DF9-3B91-1788-A679D238BDEC}"/>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31B64AE7-BCB8-EBDF-7736-60C9287E064F}"/>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dirty="0"/>
          </a:p>
        </p:txBody>
      </p:sp>
      <p:sp>
        <p:nvSpPr>
          <p:cNvPr id="480" name="Insert long title here">
            <a:extLst>
              <a:ext uri="{FF2B5EF4-FFF2-40B4-BE49-F238E27FC236}">
                <a16:creationId xmlns:a16="http://schemas.microsoft.com/office/drawing/2014/main" id="{4EF13A43-8C89-19F6-9925-321ED7F35DD9}"/>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Demo 3</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6CACCFAB-D693-6CC9-FF4F-EFC222924545}"/>
              </a:ext>
            </a:extLst>
          </p:cNvPr>
          <p:cNvSpPr txBox="1"/>
          <p:nvPr/>
        </p:nvSpPr>
        <p:spPr>
          <a:xfrm>
            <a:off x="636201" y="3975100"/>
            <a:ext cx="13371899" cy="19441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Create a simple .NET MCP server that manipulates the files on the local machine time</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Code walkthrough</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Import LocalFile MCP server</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3CD5E1D3-E6E1-709A-66F2-1AC33490D3F0}"/>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53104742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BBE9-AD55-9BC1-FB7B-6C971701B77C}"/>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4754CA08-0C83-5711-0056-3F2D50CFCDA4}"/>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19</a:t>
            </a:fld>
            <a:endParaRPr dirty="0"/>
          </a:p>
        </p:txBody>
      </p:sp>
      <p:sp>
        <p:nvSpPr>
          <p:cNvPr id="480" name="Insert long title here">
            <a:extLst>
              <a:ext uri="{FF2B5EF4-FFF2-40B4-BE49-F238E27FC236}">
                <a16:creationId xmlns:a16="http://schemas.microsoft.com/office/drawing/2014/main" id="{40C09AEF-1660-C1BD-733C-FB615724DAEC}"/>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Demo 4</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2295DE14-2207-06C1-4C2A-A88EDC6B2641}"/>
              </a:ext>
            </a:extLst>
          </p:cNvPr>
          <p:cNvSpPr txBox="1"/>
          <p:nvPr/>
        </p:nvSpPr>
        <p:spPr>
          <a:xfrm>
            <a:off x="636201" y="3975100"/>
            <a:ext cx="13371899" cy="3067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dirty="0">
                <a:solidFill>
                  <a:srgbClr val="FFFFFF"/>
                </a:solidFill>
              </a:rPr>
              <a:t>Create a .NET MCP server that uses our application</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Application walkthrough</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Code walkthrough</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Import LocalFile MCP server</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Import one more MCP server and see how these 2 are working together</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E444F7DE-8674-EE68-3EA3-B37EC6E69BA6}"/>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pic>
        <p:nvPicPr>
          <p:cNvPr id="4" name="Picture 3">
            <a:extLst>
              <a:ext uri="{FF2B5EF4-FFF2-40B4-BE49-F238E27FC236}">
                <a16:creationId xmlns:a16="http://schemas.microsoft.com/office/drawing/2014/main" id="{C48BAD2E-5159-4F79-6021-F41F7EDED64D}"/>
              </a:ext>
            </a:extLst>
          </p:cNvPr>
          <p:cNvPicPr>
            <a:picLocks noChangeAspect="1"/>
          </p:cNvPicPr>
          <p:nvPr/>
        </p:nvPicPr>
        <p:blipFill>
          <a:blip r:embed="rId3"/>
          <a:stretch>
            <a:fillRect/>
          </a:stretch>
        </p:blipFill>
        <p:spPr>
          <a:xfrm>
            <a:off x="5207385" y="6914590"/>
            <a:ext cx="14073858" cy="5943600"/>
          </a:xfrm>
          <a:prstGeom prst="rect">
            <a:avLst/>
          </a:prstGeom>
        </p:spPr>
      </p:pic>
    </p:spTree>
    <p:extLst>
      <p:ext uri="{BB962C8B-B14F-4D97-AF65-F5344CB8AC3E}">
        <p14:creationId xmlns:p14="http://schemas.microsoft.com/office/powerpoint/2010/main" val="76437180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8CCA-6439-2091-8154-68FD75AC0C0F}"/>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0DD3FB85-C1D8-B090-93D7-F28E4E18C13C}"/>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20</a:t>
            </a:fld>
            <a:endParaRPr dirty="0"/>
          </a:p>
        </p:txBody>
      </p:sp>
      <p:sp>
        <p:nvSpPr>
          <p:cNvPr id="480" name="Insert long title here">
            <a:extLst>
              <a:ext uri="{FF2B5EF4-FFF2-40B4-BE49-F238E27FC236}">
                <a16:creationId xmlns:a16="http://schemas.microsoft.com/office/drawing/2014/main" id="{5775B7BD-E6FB-D511-FE4F-F8E31AD007A9}"/>
              </a:ext>
            </a:extLst>
          </p:cNvPr>
          <p:cNvSpPr txBox="1"/>
          <p:nvPr/>
        </p:nvSpPr>
        <p:spPr>
          <a:xfrm>
            <a:off x="614427" y="1622830"/>
            <a:ext cx="22545546" cy="1477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Resources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66912A71-6C01-9ABD-37D7-071D2A230BD3}"/>
              </a:ext>
            </a:extLst>
          </p:cNvPr>
          <p:cNvSpPr txBox="1"/>
          <p:nvPr/>
        </p:nvSpPr>
        <p:spPr>
          <a:xfrm>
            <a:off x="636201" y="3975100"/>
            <a:ext cx="13371899" cy="36291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Official MCP documentation: </a:t>
            </a:r>
            <a:r>
              <a:rPr lang="en-US" b="1" kern="100" dirty="0">
                <a:solidFill>
                  <a:srgbClr val="FFFFFF"/>
                </a:solidFill>
                <a:ea typeface="Calibri" panose="020F0502020204030204" pitchFamily="34" charset="0"/>
                <a:cs typeface="Times New Roman" panose="02020603050405020304" pitchFamily="18" charset="0"/>
                <a:hlinkClick r:id="rId3"/>
              </a:rPr>
              <a:t>https://modelcontextprotocol.io/docs/getting-started/intro</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MCP Implementation: </a:t>
            </a:r>
            <a:r>
              <a:rPr lang="en-US" b="1" kern="100" dirty="0">
                <a:solidFill>
                  <a:srgbClr val="FFFFFF"/>
                </a:solidFill>
                <a:ea typeface="Calibri" panose="020F0502020204030204" pitchFamily="34" charset="0"/>
                <a:cs typeface="Times New Roman" panose="02020603050405020304" pitchFamily="18" charset="0"/>
                <a:hlinkClick r:id="rId4"/>
              </a:rPr>
              <a:t>https://github.com/modelcontextprotocol</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MCP Servers: </a:t>
            </a:r>
            <a:r>
              <a:rPr lang="en-US" b="1" kern="100" dirty="0">
                <a:solidFill>
                  <a:srgbClr val="FFFFFF"/>
                </a:solidFill>
                <a:ea typeface="Calibri" panose="020F0502020204030204" pitchFamily="34" charset="0"/>
                <a:cs typeface="Times New Roman" panose="02020603050405020304" pitchFamily="18" charset="0"/>
                <a:hlinkClick r:id="rId5"/>
              </a:rPr>
              <a:t>https://github.com/modelcontextprotocol/servers</a:t>
            </a:r>
            <a:r>
              <a:rPr lang="en-US" b="1" kern="100" dirty="0">
                <a:solidFill>
                  <a:srgbClr val="FFFFFF"/>
                </a:solidFill>
                <a:ea typeface="Calibri" panose="020F0502020204030204" pitchFamily="34" charset="0"/>
                <a:cs typeface="Times New Roman" panose="02020603050405020304" pitchFamily="18" charset="0"/>
              </a:rPr>
              <a:t> or </a:t>
            </a:r>
            <a:r>
              <a:rPr lang="en-US" b="1" kern="100" dirty="0">
                <a:solidFill>
                  <a:srgbClr val="FFFFFF"/>
                </a:solidFill>
                <a:ea typeface="Calibri" panose="020F0502020204030204" pitchFamily="34" charset="0"/>
                <a:cs typeface="Times New Roman" panose="02020603050405020304" pitchFamily="18" charset="0"/>
                <a:hlinkClick r:id="rId6"/>
              </a:rPr>
              <a:t>https://mcp.so/servers</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MCP Clients: </a:t>
            </a:r>
            <a:r>
              <a:rPr lang="en-US" b="1" kern="100" dirty="0">
                <a:solidFill>
                  <a:srgbClr val="FFFFFF"/>
                </a:solidFill>
                <a:ea typeface="Calibri" panose="020F0502020204030204" pitchFamily="34" charset="0"/>
                <a:cs typeface="Times New Roman" panose="02020603050405020304" pitchFamily="18" charset="0"/>
                <a:hlinkClick r:id="rId7"/>
              </a:rPr>
              <a:t>https://modelcontextprotocol.io/clients </a:t>
            </a:r>
            <a:r>
              <a:rPr lang="en-US" b="1" kern="100" dirty="0">
                <a:solidFill>
                  <a:srgbClr val="FFFFFF"/>
                </a:solidFill>
                <a:ea typeface="Calibri" panose="020F0502020204030204" pitchFamily="34" charset="0"/>
                <a:cs typeface="Times New Roman" panose="02020603050405020304" pitchFamily="18" charset="0"/>
              </a:rPr>
              <a:t> or </a:t>
            </a:r>
            <a:r>
              <a:rPr lang="en-US" b="1" kern="100" dirty="0">
                <a:solidFill>
                  <a:srgbClr val="FFFFFF"/>
                </a:solidFill>
                <a:ea typeface="Calibri" panose="020F0502020204030204" pitchFamily="34" charset="0"/>
                <a:cs typeface="Times New Roman" panose="02020603050405020304" pitchFamily="18" charset="0"/>
                <a:hlinkClick r:id="rId8"/>
              </a:rPr>
              <a:t>https://mcp.so/clients</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MCP </a:t>
            </a:r>
            <a:r>
              <a:rPr lang="en-US" b="1" kern="100" dirty="0" err="1">
                <a:solidFill>
                  <a:srgbClr val="FFFFFF"/>
                </a:solidFill>
                <a:ea typeface="Calibri" panose="020F0502020204030204" pitchFamily="34" charset="0"/>
                <a:cs typeface="Times New Roman" panose="02020603050405020304" pitchFamily="18" charset="0"/>
              </a:rPr>
              <a:t>Csharp</a:t>
            </a:r>
            <a:r>
              <a:rPr lang="en-US" b="1" kern="100" dirty="0">
                <a:solidFill>
                  <a:srgbClr val="FFFFFF"/>
                </a:solidFill>
                <a:ea typeface="Calibri" panose="020F0502020204030204" pitchFamily="34" charset="0"/>
                <a:cs typeface="Times New Roman" panose="02020603050405020304" pitchFamily="18" charset="0"/>
              </a:rPr>
              <a:t> SDK: </a:t>
            </a:r>
            <a:r>
              <a:rPr lang="en-US" b="1" kern="100" dirty="0">
                <a:solidFill>
                  <a:srgbClr val="FFFFFF"/>
                </a:solidFill>
                <a:ea typeface="Calibri" panose="020F0502020204030204" pitchFamily="34" charset="0"/>
                <a:cs typeface="Times New Roman" panose="02020603050405020304" pitchFamily="18" charset="0"/>
                <a:hlinkClick r:id="rId9"/>
              </a:rPr>
              <a:t>https://github.com/modelcontextprotocol/csharp-sdk</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Microsoft MCP for beginners: </a:t>
            </a:r>
            <a:r>
              <a:rPr lang="en-US" b="1" kern="100" dirty="0">
                <a:solidFill>
                  <a:srgbClr val="FFFFFF"/>
                </a:solidFill>
                <a:ea typeface="Calibri" panose="020F0502020204030204" pitchFamily="34" charset="0"/>
                <a:cs typeface="Times New Roman" panose="02020603050405020304" pitchFamily="18" charset="0"/>
                <a:hlinkClick r:id="rId10"/>
              </a:rPr>
              <a:t>https://github.com/microsoft/mcp-for-beginners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49B7214D-7B1D-9C3D-992A-B8BFE86F152F}"/>
              </a:ext>
            </a:extLst>
          </p:cNvPr>
          <p:cNvSpPr>
            <a:spLocks noGrp="1"/>
          </p:cNvSpPr>
          <p:nvPr>
            <p:ph type="body" sz="quarter" idx="21"/>
          </p:nvPr>
        </p:nvSpPr>
        <p:spPr>
          <a:xfrm>
            <a:off x="609599" y="207805"/>
            <a:ext cx="597409" cy="340835"/>
          </a:xfrm>
          <a:prstGeom prst="roundRect">
            <a:avLst>
              <a:gd name="adj" fmla="val 50000"/>
            </a:avLst>
          </a:prstGeom>
        </p:spPr>
        <p:txBody>
          <a:bodyPr>
            <a:normAutofit fontScale="92500" lnSpcReduction="20000"/>
          </a:bodyPr>
          <a:lstStyle/>
          <a:p>
            <a:r>
              <a:rPr lang="en-US" dirty="0"/>
              <a:t>End</a:t>
            </a:r>
            <a:endParaRPr dirty="0"/>
          </a:p>
        </p:txBody>
      </p:sp>
    </p:spTree>
    <p:extLst>
      <p:ext uri="{BB962C8B-B14F-4D97-AF65-F5344CB8AC3E}">
        <p14:creationId xmlns:p14="http://schemas.microsoft.com/office/powerpoint/2010/main" val="100936451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 name="Slide Number"/>
          <p:cNvSpPr txBox="1">
            <a:spLocks noGrp="1"/>
          </p:cNvSpPr>
          <p:nvPr>
            <p:ph type="sldNum" sz="quarter" idx="2"/>
          </p:nvPr>
        </p:nvSpPr>
        <p:spPr>
          <a:xfrm>
            <a:off x="23455770" y="13109106"/>
            <a:ext cx="322174" cy="297180"/>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21</a:t>
            </a:fld>
            <a:endParaRPr/>
          </a:p>
        </p:txBody>
      </p:sp>
      <p:sp>
        <p:nvSpPr>
          <p:cNvPr id="1850" name="Thank you!"/>
          <p:cNvSpPr txBox="1"/>
          <p:nvPr/>
        </p:nvSpPr>
        <p:spPr>
          <a:xfrm>
            <a:off x="3240710" y="5802316"/>
            <a:ext cx="17902581" cy="162159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7" tIns="71437" rIns="71437" bIns="71437">
            <a:spAutoFit/>
          </a:bodyPr>
          <a:lstStyle/>
          <a:p>
            <a:pPr algn="ctr" defTabSz="470262">
              <a:lnSpc>
                <a:spcPct val="100000"/>
              </a:lnSpc>
              <a:spcBef>
                <a:spcPts val="0"/>
              </a:spcBef>
              <a:defRPr sz="9600">
                <a:latin typeface="+mj-lt"/>
                <a:ea typeface="+mj-ea"/>
                <a:cs typeface="+mj-cs"/>
                <a:sym typeface="Poppins Medium"/>
              </a:defRPr>
            </a:pPr>
            <a:r>
              <a:rPr>
                <a:solidFill>
                  <a:srgbClr val="FFFFFF"/>
                </a:solidFill>
              </a:rPr>
              <a:t>Thank </a:t>
            </a:r>
            <a:r>
              <a:rPr>
                <a:solidFill>
                  <a:srgbClr val="FF5640"/>
                </a:solidFill>
              </a:rPr>
              <a:t>you</a:t>
            </a:r>
            <a:r>
              <a:rPr>
                <a:solidFill>
                  <a:srgbClr val="FFFFFF"/>
                </a:solidFill>
              </a:rPr>
              <a:t>!</a:t>
            </a:r>
          </a:p>
        </p:txBody>
      </p:sp>
    </p:spTree>
  </p:cSld>
  <p:clrMapOvr>
    <a:masterClrMapping/>
  </p:clrMapOvr>
  <p:transition spd="med"/>
</p:sld>
</file>

<file path=ppt/theme/theme1.xml><?xml version="1.0" encoding="utf-8"?>
<a:theme xmlns:a="http://schemas.openxmlformats.org/drawingml/2006/main" name="White">
  <a:themeElements>
    <a:clrScheme name="Endava 1">
      <a:dk1>
        <a:srgbClr val="122B38"/>
      </a:dk1>
      <a:lt1>
        <a:srgbClr val="FF422F"/>
      </a:lt1>
      <a:dk2>
        <a:srgbClr val="122B38"/>
      </a:dk2>
      <a:lt2>
        <a:srgbClr val="FEFFFF"/>
      </a:lt2>
      <a:accent1>
        <a:srgbClr val="00A859"/>
      </a:accent1>
      <a:accent2>
        <a:srgbClr val="3D9BC8"/>
      </a:accent2>
      <a:accent3>
        <a:srgbClr val="FF4231"/>
      </a:accent3>
      <a:accent4>
        <a:srgbClr val="DB7D00"/>
      </a:accent4>
      <a:accent5>
        <a:srgbClr val="8683C3"/>
      </a:accent5>
      <a:accent6>
        <a:srgbClr val="729A00"/>
      </a:accent6>
      <a:hlink>
        <a:srgbClr val="FF422F"/>
      </a:hlink>
      <a:folHlink>
        <a:srgbClr val="FF422F"/>
      </a:folHlink>
    </a:clrScheme>
    <a:fontScheme name="DavaSans">
      <a:majorFont>
        <a:latin typeface="Dava Sans Med"/>
        <a:ea typeface=""/>
        <a:cs typeface=""/>
      </a:majorFont>
      <a:minorFont>
        <a:latin typeface="Dava Sans"/>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Poppins Medium"/>
        <a:ea typeface="Poppins Medium"/>
        <a:cs typeface="Poppins Medium"/>
      </a:majorFont>
      <a:minorFont>
        <a:latin typeface="Poppins Regular"/>
        <a:ea typeface="Poppins Regular"/>
        <a:cs typeface="Poppins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2f16b87-0624-477d-ba0a-750d221ab23c">
      <Terms xmlns="http://schemas.microsoft.com/office/infopath/2007/PartnerControls"/>
    </lcf76f155ced4ddcb4097134ff3c332f>
    <TaxCatchAll xmlns="8168535b-5d60-42ad-a65e-bf2e941e3ec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E1A3AB7BB67645ADF34C3F66D16019" ma:contentTypeVersion="11" ma:contentTypeDescription="Create a new document." ma:contentTypeScope="" ma:versionID="d5e8625edbf3cbe113aba52c19c8cb8b">
  <xsd:schema xmlns:xsd="http://www.w3.org/2001/XMLSchema" xmlns:xs="http://www.w3.org/2001/XMLSchema" xmlns:p="http://schemas.microsoft.com/office/2006/metadata/properties" xmlns:ns2="d2f16b87-0624-477d-ba0a-750d221ab23c" xmlns:ns3="8168535b-5d60-42ad-a65e-bf2e941e3ec4" targetNamespace="http://schemas.microsoft.com/office/2006/metadata/properties" ma:root="true" ma:fieldsID="9f08ffe739e095a277a850cd7ebfb897" ns2:_="" ns3:_="">
    <xsd:import namespace="d2f16b87-0624-477d-ba0a-750d221ab23c"/>
    <xsd:import namespace="8168535b-5d60-42ad-a65e-bf2e941e3ec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f16b87-0624-477d-ba0a-750d221ab23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cda9fbb2-20ec-4b38-b475-624b7129167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68535b-5d60-42ad-a65e-bf2e941e3ec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c2d09db-f028-4af3-897f-09bcaa6006ba}" ma:internalName="TaxCatchAll" ma:showField="CatchAllData" ma:web="8168535b-5d60-42ad-a65e-bf2e941e3e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3AC3B7-1DF3-4C6B-ACF9-D9E0163D9FAF}">
  <ds:schemaRefs>
    <ds:schemaRef ds:uri="http://schemas.microsoft.com/office/2006/metadata/properties"/>
    <ds:schemaRef ds:uri="http://schemas.microsoft.com/office/infopath/2007/PartnerControls"/>
    <ds:schemaRef ds:uri="d2f16b87-0624-477d-ba0a-750d221ab23c"/>
    <ds:schemaRef ds:uri="8168535b-5d60-42ad-a65e-bf2e941e3ec4"/>
  </ds:schemaRefs>
</ds:datastoreItem>
</file>

<file path=customXml/itemProps2.xml><?xml version="1.0" encoding="utf-8"?>
<ds:datastoreItem xmlns:ds="http://schemas.openxmlformats.org/officeDocument/2006/customXml" ds:itemID="{154546E5-6158-445B-86FA-D0CB17A6BF05}">
  <ds:schemaRefs>
    <ds:schemaRef ds:uri="http://schemas.microsoft.com/sharepoint/v3/contenttype/forms"/>
  </ds:schemaRefs>
</ds:datastoreItem>
</file>

<file path=customXml/itemProps3.xml><?xml version="1.0" encoding="utf-8"?>
<ds:datastoreItem xmlns:ds="http://schemas.openxmlformats.org/officeDocument/2006/customXml" ds:itemID="{60816B88-42CF-496F-8F60-2F1DE7844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f16b87-0624-477d-ba0a-750d221ab23c"/>
    <ds:schemaRef ds:uri="8168535b-5d60-42ad-a65e-bf2e941e3e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21738</TotalTime>
  <Words>849</Words>
  <Application>Microsoft Office PowerPoint</Application>
  <PresentationFormat>Custom</PresentationFormat>
  <Paragraphs>137</Paragraphs>
  <Slides>21</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Dava Sans Med</vt:lpstr>
      <vt:lpstr>Arial</vt:lpstr>
      <vt:lpstr>Dava Sans</vt:lpstr>
      <vt:lpstr>White</vt:lpstr>
      <vt:lpstr>MCP in Action    Building Smarter AI-Driven Applications with LLMs and Agents.</vt:lpstr>
      <vt:lpstr>PowerPoint Presentation</vt:lpstr>
      <vt:lpstr>PowerPoint Presentation</vt:lpstr>
      <vt:lpstr>The History That Led to MCP</vt:lpstr>
      <vt:lpstr>PowerPoint Presentation</vt:lpstr>
      <vt:lpstr>PowerPoint Presentation</vt:lpstr>
      <vt:lpstr>PowerPoint Presentation</vt:lpstr>
      <vt:lpstr>PowerPoint Presentation</vt:lpstr>
      <vt:lpstr>PowerPoint Presentation</vt:lpstr>
      <vt:lpstr>PowerPoint Presentation</vt:lpstr>
      <vt:lpstr>Why MCP</vt:lpstr>
      <vt:lpstr>PowerPoint Presentation</vt:lpstr>
      <vt:lpstr>PowerPoint Presentation</vt:lpstr>
      <vt:lpstr>PowerPoint Presentation</vt:lpstr>
      <vt:lpstr>Demo</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Meto Trajkovski</dc:creator>
  <cp:lastModifiedBy>Meto Trajkovski</cp:lastModifiedBy>
  <cp:revision>23</cp:revision>
  <dcterms:modified xsi:type="dcterms:W3CDTF">2025-12-11T12:38:16Z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0x01010060E1A3AB7BB67645ADF34C3F66D16019</vt:lpwstr>
  </property>
</Properties>
</file>